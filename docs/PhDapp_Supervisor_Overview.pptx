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spc="800" kern="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463040"/>
            <a:ext cx="1051560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workspace,</a:t>
            </a:r>
            <a:endParaRPr lang="en-US" sz="6000" dirty="0"/>
          </a:p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 whole supervision.</a:t>
            </a:r>
            <a:endParaRPr lang="en-US" sz="6000" dirty="0"/>
          </a:p>
        </p:txBody>
      </p:sp>
      <p:sp>
        <p:nvSpPr>
          <p:cNvPr id="4" name="Text 2"/>
          <p:cNvSpPr/>
          <p:nvPr/>
        </p:nvSpPr>
        <p:spPr>
          <a:xfrm>
            <a:off x="914400" y="516636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FFFFFF">
                    <a:alpha val="9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Students, tasks, calendar, chat — and everything that connects them.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914400" y="603504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600" kern="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QUICK TOUR · FOR SUPERVISORS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6F4CFF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667512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530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6F4C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WELCOME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261872" y="749808"/>
            <a:ext cx="1038118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PhDapp is</a:t>
            </a:r>
            <a:endParaRPr lang="en-US" sz="4000" dirty="0"/>
          </a:p>
        </p:txBody>
      </p:sp>
      <p:sp>
        <p:nvSpPr>
          <p:cNvPr id="6" name="Text 3"/>
          <p:cNvSpPr/>
          <p:nvPr/>
        </p:nvSpPr>
        <p:spPr>
          <a:xfrm>
            <a:off x="548640" y="1508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i="1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single workspace covering everything you do day-to-day with PhD students.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548640" y="2194560"/>
            <a:ext cx="260604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548640" y="2194560"/>
            <a:ext cx="73152" cy="1783080"/>
          </a:xfrm>
          <a:prstGeom prst="rect">
            <a:avLst/>
          </a:prstGeom>
          <a:solidFill>
            <a:srgbClr val="FF3D8B"/>
          </a:solidFill>
          <a:ln/>
        </p:spPr>
      </p:sp>
      <p:sp>
        <p:nvSpPr>
          <p:cNvPr id="9" name="Text 6"/>
          <p:cNvSpPr/>
          <p:nvPr/>
        </p:nvSpPr>
        <p:spPr>
          <a:xfrm>
            <a:off x="749808" y="2359152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Students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749808" y="3063240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Per-student profile with team, thesis, publications, reading.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3383280" y="2194560"/>
            <a:ext cx="260604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383280" y="2194560"/>
            <a:ext cx="73152" cy="1783080"/>
          </a:xfrm>
          <a:prstGeom prst="rect">
            <a:avLst/>
          </a:prstGeom>
          <a:solidFill>
            <a:srgbClr val="FF7A45"/>
          </a:solidFill>
          <a:ln/>
        </p:spPr>
      </p:sp>
      <p:sp>
        <p:nvSpPr>
          <p:cNvPr id="13" name="Text 10"/>
          <p:cNvSpPr/>
          <p:nvPr/>
        </p:nvSpPr>
        <p:spPr>
          <a:xfrm>
            <a:off x="3584448" y="2359152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Tasks</a:t>
            </a:r>
            <a:endParaRPr lang="en-US" sz="2200" dirty="0"/>
          </a:p>
        </p:txBody>
      </p:sp>
      <p:sp>
        <p:nvSpPr>
          <p:cNvPr id="14" name="Text 11"/>
          <p:cNvSpPr/>
          <p:nvPr/>
        </p:nvSpPr>
        <p:spPr>
          <a:xfrm>
            <a:off x="3584448" y="3063240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Board / List / Gantt with dependencies, groups, sub-tasks.</a:t>
            </a:r>
            <a:endParaRPr lang="en-US" sz="1800" dirty="0"/>
          </a:p>
        </p:txBody>
      </p:sp>
      <p:sp>
        <p:nvSpPr>
          <p:cNvPr id="15" name="Shape 12"/>
          <p:cNvSpPr/>
          <p:nvPr/>
        </p:nvSpPr>
        <p:spPr>
          <a:xfrm>
            <a:off x="6217920" y="2194560"/>
            <a:ext cx="260604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217920" y="2194560"/>
            <a:ext cx="73152" cy="1783080"/>
          </a:xfrm>
          <a:prstGeom prst="rect">
            <a:avLst/>
          </a:prstGeom>
          <a:solidFill>
            <a:srgbClr val="00D1C1"/>
          </a:solidFill>
          <a:ln/>
        </p:spPr>
      </p:sp>
      <p:sp>
        <p:nvSpPr>
          <p:cNvPr id="17" name="Text 14"/>
          <p:cNvSpPr/>
          <p:nvPr/>
        </p:nvSpPr>
        <p:spPr>
          <a:xfrm>
            <a:off x="6419088" y="2359152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Calendar</a:t>
            </a:r>
            <a:endParaRPr lang="en-US" sz="2200" dirty="0"/>
          </a:p>
        </p:txBody>
      </p:sp>
      <p:sp>
        <p:nvSpPr>
          <p:cNvPr id="18" name="Text 15"/>
          <p:cNvSpPr/>
          <p:nvPr/>
        </p:nvSpPr>
        <p:spPr>
          <a:xfrm>
            <a:off x="6419088" y="3063240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Shared per-student Google calendar + structured 1:1 meetings.</a:t>
            </a:r>
            <a:endParaRPr lang="en-US" sz="1800" dirty="0"/>
          </a:p>
        </p:txBody>
      </p:sp>
      <p:sp>
        <p:nvSpPr>
          <p:cNvPr id="19" name="Shape 16"/>
          <p:cNvSpPr/>
          <p:nvPr/>
        </p:nvSpPr>
        <p:spPr>
          <a:xfrm>
            <a:off x="9052560" y="2194560"/>
            <a:ext cx="260604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9052560" y="2194560"/>
            <a:ext cx="73152" cy="1783080"/>
          </a:xfrm>
          <a:prstGeom prst="rect">
            <a:avLst/>
          </a:prstGeom>
          <a:solidFill>
            <a:srgbClr val="00CA72"/>
          </a:solidFill>
          <a:ln/>
        </p:spPr>
      </p:sp>
      <p:sp>
        <p:nvSpPr>
          <p:cNvPr id="21" name="Text 18"/>
          <p:cNvSpPr/>
          <p:nvPr/>
        </p:nvSpPr>
        <p:spPr>
          <a:xfrm>
            <a:off x="9253728" y="2359152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Chat</a:t>
            </a:r>
            <a:endParaRPr lang="en-US" sz="2200" dirty="0"/>
          </a:p>
        </p:txBody>
      </p:sp>
      <p:sp>
        <p:nvSpPr>
          <p:cNvPr id="22" name="Text 19"/>
          <p:cNvSpPr/>
          <p:nvPr/>
        </p:nvSpPr>
        <p:spPr>
          <a:xfrm>
            <a:off x="9253728" y="3063240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Channels per student / co-supervisors; auto Team channel.</a:t>
            </a:r>
            <a:endParaRPr lang="en-US" sz="1800" dirty="0"/>
          </a:p>
        </p:txBody>
      </p:sp>
      <p:sp>
        <p:nvSpPr>
          <p:cNvPr id="23" name="Shape 20"/>
          <p:cNvSpPr/>
          <p:nvPr/>
        </p:nvSpPr>
        <p:spPr>
          <a:xfrm>
            <a:off x="548640" y="4251960"/>
            <a:ext cx="260604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548640" y="4251960"/>
            <a:ext cx="73152" cy="1783080"/>
          </a:xfrm>
          <a:prstGeom prst="rect">
            <a:avLst/>
          </a:prstGeom>
          <a:solidFill>
            <a:srgbClr val="6F4CFF"/>
          </a:solidFill>
          <a:ln/>
        </p:spPr>
      </p:sp>
      <p:sp>
        <p:nvSpPr>
          <p:cNvPr id="25" name="Text 22"/>
          <p:cNvSpPr/>
          <p:nvPr/>
        </p:nvSpPr>
        <p:spPr>
          <a:xfrm>
            <a:off x="749808" y="4416552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Reading</a:t>
            </a:r>
            <a:endParaRPr lang="en-US" sz="2200" dirty="0"/>
          </a:p>
        </p:txBody>
      </p:sp>
      <p:sp>
        <p:nvSpPr>
          <p:cNvPr id="26" name="Text 23"/>
          <p:cNvSpPr/>
          <p:nvPr/>
        </p:nvSpPr>
        <p:spPr>
          <a:xfrm>
            <a:off x="749808" y="5120640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Reading list with student-proposal approval flow.</a:t>
            </a:r>
            <a:endParaRPr lang="en-US" sz="1800" dirty="0"/>
          </a:p>
        </p:txBody>
      </p:sp>
      <p:sp>
        <p:nvSpPr>
          <p:cNvPr id="27" name="Shape 24"/>
          <p:cNvSpPr/>
          <p:nvPr/>
        </p:nvSpPr>
        <p:spPr>
          <a:xfrm>
            <a:off x="3383280" y="4251960"/>
            <a:ext cx="260604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28" name="Shape 25"/>
          <p:cNvSpPr/>
          <p:nvPr/>
        </p:nvSpPr>
        <p:spPr>
          <a:xfrm>
            <a:off x="3383280" y="4251960"/>
            <a:ext cx="73152" cy="1783080"/>
          </a:xfrm>
          <a:prstGeom prst="rect">
            <a:avLst/>
          </a:prstGeom>
          <a:solidFill>
            <a:srgbClr val="FF3D8B"/>
          </a:solidFill>
          <a:ln/>
        </p:spPr>
      </p:sp>
      <p:sp>
        <p:nvSpPr>
          <p:cNvPr id="29" name="Text 26"/>
          <p:cNvSpPr/>
          <p:nvPr/>
        </p:nvSpPr>
        <p:spPr>
          <a:xfrm>
            <a:off x="3584448" y="4416552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Check-ins</a:t>
            </a:r>
            <a:endParaRPr lang="en-US" sz="2200" dirty="0"/>
          </a:p>
        </p:txBody>
      </p:sp>
      <p:sp>
        <p:nvSpPr>
          <p:cNvPr id="30" name="Text 27"/>
          <p:cNvSpPr/>
          <p:nvPr/>
        </p:nvSpPr>
        <p:spPr>
          <a:xfrm>
            <a:off x="3584448" y="5120640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Weekly reflection + private wellbeing score.</a:t>
            </a:r>
            <a:endParaRPr lang="en-US" sz="1800" dirty="0"/>
          </a:p>
        </p:txBody>
      </p:sp>
      <p:sp>
        <p:nvSpPr>
          <p:cNvPr id="31" name="Shape 28"/>
          <p:cNvSpPr/>
          <p:nvPr/>
        </p:nvSpPr>
        <p:spPr>
          <a:xfrm>
            <a:off x="6217920" y="4251960"/>
            <a:ext cx="260604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32" name="Shape 29"/>
          <p:cNvSpPr/>
          <p:nvPr/>
        </p:nvSpPr>
        <p:spPr>
          <a:xfrm>
            <a:off x="6217920" y="4251960"/>
            <a:ext cx="73152" cy="1783080"/>
          </a:xfrm>
          <a:prstGeom prst="rect">
            <a:avLst/>
          </a:prstGeom>
          <a:solidFill>
            <a:srgbClr val="E2445C"/>
          </a:solidFill>
          <a:ln/>
        </p:spPr>
      </p:sp>
      <p:sp>
        <p:nvSpPr>
          <p:cNvPr id="33" name="Text 30"/>
          <p:cNvSpPr/>
          <p:nvPr/>
        </p:nvSpPr>
        <p:spPr>
          <a:xfrm>
            <a:off x="6419088" y="4416552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Annual review</a:t>
            </a:r>
            <a:endParaRPr lang="en-US" sz="2200" dirty="0"/>
          </a:p>
        </p:txBody>
      </p:sp>
      <p:sp>
        <p:nvSpPr>
          <p:cNvPr id="34" name="Text 31"/>
          <p:cNvSpPr/>
          <p:nvPr/>
        </p:nvSpPr>
        <p:spPr>
          <a:xfrm>
            <a:off x="6419088" y="5120640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Printable per-student summary, ready as PDF.</a:t>
            </a:r>
            <a:endParaRPr lang="en-US" sz="1800" dirty="0"/>
          </a:p>
        </p:txBody>
      </p:sp>
      <p:sp>
        <p:nvSpPr>
          <p:cNvPr id="35" name="Shape 32"/>
          <p:cNvSpPr/>
          <p:nvPr/>
        </p:nvSpPr>
        <p:spPr>
          <a:xfrm>
            <a:off x="9052560" y="4251960"/>
            <a:ext cx="260604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36" name="Shape 33"/>
          <p:cNvSpPr/>
          <p:nvPr/>
        </p:nvSpPr>
        <p:spPr>
          <a:xfrm>
            <a:off x="9052560" y="4251960"/>
            <a:ext cx="73152" cy="1783080"/>
          </a:xfrm>
          <a:prstGeom prst="rect">
            <a:avLst/>
          </a:prstGeom>
          <a:solidFill>
            <a:srgbClr val="E2445C"/>
          </a:solidFill>
          <a:ln/>
        </p:spPr>
      </p:sp>
      <p:sp>
        <p:nvSpPr>
          <p:cNvPr id="37" name="Text 34"/>
          <p:cNvSpPr/>
          <p:nvPr/>
        </p:nvSpPr>
        <p:spPr>
          <a:xfrm>
            <a:off x="9253728" y="4416552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Activity log</a:t>
            </a:r>
            <a:endParaRPr lang="en-US" sz="2200" dirty="0"/>
          </a:p>
        </p:txBody>
      </p:sp>
      <p:sp>
        <p:nvSpPr>
          <p:cNvPr id="38" name="Text 35"/>
          <p:cNvSpPr/>
          <p:nvPr/>
        </p:nvSpPr>
        <p:spPr>
          <a:xfrm>
            <a:off x="9253728" y="5120640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Audit trail of who did what, when.</a:t>
            </a:r>
            <a:endParaRPr lang="en-US" sz="1800" dirty="0"/>
          </a:p>
        </p:txBody>
      </p:sp>
      <p:sp>
        <p:nvSpPr>
          <p:cNvPr id="39" name="Shape 36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40" name="Text 37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 · for supervisors</a:t>
            </a:r>
            <a:endParaRPr lang="en-US" sz="1300" dirty="0"/>
          </a:p>
        </p:txBody>
      </p:sp>
      <p:sp>
        <p:nvSpPr>
          <p:cNvPr id="41" name="Text 38"/>
          <p:cNvSpPr/>
          <p:nvPr/>
        </p:nvSpPr>
        <p:spPr>
          <a:xfrm>
            <a:off x="9814255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 / 19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6F4CFF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667512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530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6F4C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ROLES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261872" y="749808"/>
            <a:ext cx="1038118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Roles &amp; access</a:t>
            </a:r>
            <a:endParaRPr lang="en-US" sz="4000" dirty="0"/>
          </a:p>
        </p:txBody>
      </p:sp>
      <p:sp>
        <p:nvSpPr>
          <p:cNvPr id="6" name="Text 3"/>
          <p:cNvSpPr/>
          <p:nvPr/>
        </p:nvSpPr>
        <p:spPr>
          <a:xfrm>
            <a:off x="548640" y="1508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i="1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Same student, different views. Roles set what each member can see and do.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548640" y="1874520"/>
            <a:ext cx="361188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548640" y="1874520"/>
            <a:ext cx="73152" cy="1783080"/>
          </a:xfrm>
          <a:prstGeom prst="rect">
            <a:avLst/>
          </a:prstGeom>
          <a:solidFill>
            <a:srgbClr val="6F4CFF"/>
          </a:solidFill>
          <a:ln/>
        </p:spPr>
      </p:sp>
      <p:sp>
        <p:nvSpPr>
          <p:cNvPr id="9" name="Text 6"/>
          <p:cNvSpPr/>
          <p:nvPr/>
        </p:nvSpPr>
        <p:spPr>
          <a:xfrm>
            <a:off x="749808" y="2039112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Supervisor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749808" y="2743200"/>
            <a:ext cx="32918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Primary owner of a student. Full read + write.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4343400" y="1874520"/>
            <a:ext cx="361188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4343400" y="1874520"/>
            <a:ext cx="73152" cy="1783080"/>
          </a:xfrm>
          <a:prstGeom prst="rect">
            <a:avLst/>
          </a:prstGeom>
          <a:solidFill>
            <a:srgbClr val="6F4CFF"/>
          </a:solidFill>
          <a:ln/>
        </p:spPr>
      </p:sp>
      <p:sp>
        <p:nvSpPr>
          <p:cNvPr id="13" name="Text 10"/>
          <p:cNvSpPr/>
          <p:nvPr/>
        </p:nvSpPr>
        <p:spPr>
          <a:xfrm>
            <a:off x="4544568" y="2039112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Co-supervisor</a:t>
            </a:r>
            <a:endParaRPr lang="en-US" sz="2200" dirty="0"/>
          </a:p>
        </p:txBody>
      </p:sp>
      <p:sp>
        <p:nvSpPr>
          <p:cNvPr id="14" name="Text 11"/>
          <p:cNvSpPr/>
          <p:nvPr/>
        </p:nvSpPr>
        <p:spPr>
          <a:xfrm>
            <a:off x="4544568" y="2743200"/>
            <a:ext cx="32918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Also writes. Sits in the team chat. Co-decides.</a:t>
            </a:r>
            <a:endParaRPr lang="en-US" sz="1800" dirty="0"/>
          </a:p>
        </p:txBody>
      </p:sp>
      <p:sp>
        <p:nvSpPr>
          <p:cNvPr id="15" name="Shape 12"/>
          <p:cNvSpPr/>
          <p:nvPr/>
        </p:nvSpPr>
        <p:spPr>
          <a:xfrm>
            <a:off x="8138160" y="1874520"/>
            <a:ext cx="361188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8138160" y="1874520"/>
            <a:ext cx="73152" cy="178308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7" name="Text 14"/>
          <p:cNvSpPr/>
          <p:nvPr/>
        </p:nvSpPr>
        <p:spPr>
          <a:xfrm>
            <a:off x="8339328" y="2039112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Team advisor</a:t>
            </a:r>
            <a:endParaRPr lang="en-US" sz="2200" dirty="0"/>
          </a:p>
        </p:txBody>
      </p:sp>
      <p:sp>
        <p:nvSpPr>
          <p:cNvPr id="18" name="Text 15"/>
          <p:cNvSpPr/>
          <p:nvPr/>
        </p:nvSpPr>
        <p:spPr>
          <a:xfrm>
            <a:off x="8339328" y="2743200"/>
            <a:ext cx="32918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Senior peer, read-only — including private notes and wellbeing. Posts to the Advisor Suggestions thread.</a:t>
            </a:r>
            <a:endParaRPr lang="en-US" sz="1800" dirty="0"/>
          </a:p>
        </p:txBody>
      </p:sp>
      <p:sp>
        <p:nvSpPr>
          <p:cNvPr id="19" name="Shape 16"/>
          <p:cNvSpPr/>
          <p:nvPr/>
        </p:nvSpPr>
        <p:spPr>
          <a:xfrm>
            <a:off x="548640" y="3886200"/>
            <a:ext cx="361188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548640" y="3886200"/>
            <a:ext cx="73152" cy="1783080"/>
          </a:xfrm>
          <a:prstGeom prst="rect">
            <a:avLst/>
          </a:prstGeom>
          <a:solidFill>
            <a:srgbClr val="00D1C1"/>
          </a:solidFill>
          <a:ln/>
        </p:spPr>
      </p:sp>
      <p:sp>
        <p:nvSpPr>
          <p:cNvPr id="21" name="Text 18"/>
          <p:cNvSpPr/>
          <p:nvPr/>
        </p:nvSpPr>
        <p:spPr>
          <a:xfrm>
            <a:off x="749808" y="4050792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External advisor</a:t>
            </a:r>
            <a:endParaRPr lang="en-US" sz="2200" dirty="0"/>
          </a:p>
        </p:txBody>
      </p:sp>
      <p:sp>
        <p:nvSpPr>
          <p:cNvPr id="22" name="Text 19"/>
          <p:cNvSpPr/>
          <p:nvPr/>
        </p:nvSpPr>
        <p:spPr>
          <a:xfrm>
            <a:off x="749808" y="4754880"/>
            <a:ext cx="32918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Read-only, no private material; can comment on tasks.</a:t>
            </a:r>
            <a:endParaRPr lang="en-US" sz="1800" dirty="0"/>
          </a:p>
        </p:txBody>
      </p:sp>
      <p:sp>
        <p:nvSpPr>
          <p:cNvPr id="23" name="Shape 20"/>
          <p:cNvSpPr/>
          <p:nvPr/>
        </p:nvSpPr>
        <p:spPr>
          <a:xfrm>
            <a:off x="4343400" y="3886200"/>
            <a:ext cx="361188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4343400" y="3886200"/>
            <a:ext cx="73152" cy="1783080"/>
          </a:xfrm>
          <a:prstGeom prst="rect">
            <a:avLst/>
          </a:prstGeom>
          <a:solidFill>
            <a:srgbClr val="2196F3"/>
          </a:solidFill>
          <a:ln/>
        </p:spPr>
      </p:sp>
      <p:sp>
        <p:nvSpPr>
          <p:cNvPr id="25" name="Text 22"/>
          <p:cNvSpPr/>
          <p:nvPr/>
        </p:nvSpPr>
        <p:spPr>
          <a:xfrm>
            <a:off x="4544568" y="4050792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Committee</a:t>
            </a:r>
            <a:endParaRPr lang="en-US" sz="2200" dirty="0"/>
          </a:p>
        </p:txBody>
      </p:sp>
      <p:sp>
        <p:nvSpPr>
          <p:cNvPr id="26" name="Text 23"/>
          <p:cNvSpPr/>
          <p:nvPr/>
        </p:nvSpPr>
        <p:spPr>
          <a:xfrm>
            <a:off x="4544568" y="4754880"/>
            <a:ext cx="32918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Read-only access during reviews. No private material.</a:t>
            </a:r>
            <a:endParaRPr lang="en-US" sz="1800" dirty="0"/>
          </a:p>
        </p:txBody>
      </p:sp>
      <p:sp>
        <p:nvSpPr>
          <p:cNvPr id="27" name="Shape 24"/>
          <p:cNvSpPr/>
          <p:nvPr/>
        </p:nvSpPr>
        <p:spPr>
          <a:xfrm>
            <a:off x="8138160" y="3886200"/>
            <a:ext cx="361188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28" name="Shape 25"/>
          <p:cNvSpPr/>
          <p:nvPr/>
        </p:nvSpPr>
        <p:spPr>
          <a:xfrm>
            <a:off x="8138160" y="3886200"/>
            <a:ext cx="73152" cy="1783080"/>
          </a:xfrm>
          <a:prstGeom prst="rect">
            <a:avLst/>
          </a:prstGeom>
          <a:solidFill>
            <a:srgbClr val="E2445C"/>
          </a:solidFill>
          <a:ln/>
        </p:spPr>
      </p:sp>
      <p:sp>
        <p:nvSpPr>
          <p:cNvPr id="29" name="Text 26"/>
          <p:cNvSpPr/>
          <p:nvPr/>
        </p:nvSpPr>
        <p:spPr>
          <a:xfrm>
            <a:off x="8339328" y="4050792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Admin</a:t>
            </a:r>
            <a:endParaRPr lang="en-US" sz="2200" dirty="0"/>
          </a:p>
        </p:txBody>
      </p:sp>
      <p:sp>
        <p:nvSpPr>
          <p:cNvPr id="30" name="Text 27"/>
          <p:cNvSpPr/>
          <p:nvPr/>
        </p:nvSpPr>
        <p:spPr>
          <a:xfrm>
            <a:off x="8339328" y="4754880"/>
            <a:ext cx="32918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App-wide owner. Adds users, manages settings, runs maintenance.</a:t>
            </a:r>
            <a:endParaRPr lang="en-US" sz="1800" dirty="0"/>
          </a:p>
        </p:txBody>
      </p:sp>
      <p:sp>
        <p:nvSpPr>
          <p:cNvPr id="31" name="Shape 28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 · for supervisors</a:t>
            </a:r>
            <a:endParaRPr lang="en-US" sz="1300" dirty="0"/>
          </a:p>
        </p:txBody>
      </p:sp>
      <p:sp>
        <p:nvSpPr>
          <p:cNvPr id="33" name="Text 30"/>
          <p:cNvSpPr/>
          <p:nvPr/>
        </p:nvSpPr>
        <p:spPr>
          <a:xfrm>
            <a:off x="9814255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 / 19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F3D8B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667512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530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FF3D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STUDENTS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261872" y="749808"/>
            <a:ext cx="1038118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Adding students &amp; teams</a:t>
            </a:r>
            <a:endParaRPr lang="en-US" sz="4000" dirty="0"/>
          </a:p>
        </p:txBody>
      </p:sp>
      <p:sp>
        <p:nvSpPr>
          <p:cNvPr id="6" name="Shape 3"/>
          <p:cNvSpPr/>
          <p:nvPr/>
        </p:nvSpPr>
        <p:spPr>
          <a:xfrm>
            <a:off x="548640" y="1828800"/>
            <a:ext cx="5486400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48640" y="1828800"/>
            <a:ext cx="73152" cy="3931920"/>
          </a:xfrm>
          <a:prstGeom prst="rect">
            <a:avLst/>
          </a:prstGeom>
          <a:solidFill>
            <a:srgbClr val="FF3D8B"/>
          </a:solidFill>
          <a:ln/>
        </p:spPr>
      </p:sp>
      <p:sp>
        <p:nvSpPr>
          <p:cNvPr id="8" name="Text 5"/>
          <p:cNvSpPr/>
          <p:nvPr/>
        </p:nvSpPr>
        <p:spPr>
          <a:xfrm>
            <a:off x="749808" y="1993392"/>
            <a:ext cx="5166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New student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777240" y="2697480"/>
            <a:ext cx="50749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Admin or supervisor adds them (name, email, year, status).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 auto Team channel is created for the whole team.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Profile → Share Drive + Share calendar set up shared resources.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Admin can backfill missing team channels for older students.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6400800" y="1828800"/>
            <a:ext cx="5242255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400800" y="1828800"/>
            <a:ext cx="73152" cy="393192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2" name="Text 9"/>
          <p:cNvSpPr/>
          <p:nvPr/>
        </p:nvSpPr>
        <p:spPr>
          <a:xfrm>
            <a:off x="6601968" y="1993392"/>
            <a:ext cx="49222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Manage team</a:t>
            </a:r>
            <a:endParaRPr lang="en-US" sz="2200" dirty="0"/>
          </a:p>
        </p:txBody>
      </p:sp>
      <p:sp>
        <p:nvSpPr>
          <p:cNvPr id="13" name="Text 10"/>
          <p:cNvSpPr/>
          <p:nvPr/>
        </p:nvSpPr>
        <p:spPr>
          <a:xfrm>
            <a:off x="6629400" y="2697480"/>
            <a:ext cx="4876495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Add co-supervisors, team advisors, external advisors, committee members.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Change roles or remove members (with a confirm prompt).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Each role is configured per-student — the same person can supervise A and team-advise B.</a:t>
            </a:r>
            <a:endParaRPr lang="en-US" sz="1800" dirty="0"/>
          </a:p>
        </p:txBody>
      </p:sp>
      <p:sp>
        <p:nvSpPr>
          <p:cNvPr id="14" name="Shape 11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 · for supervisors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9814255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 / 19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F3D8B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667512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530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FF3D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PROFILE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261872" y="749808"/>
            <a:ext cx="1038118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 profile · external links</a:t>
            </a:r>
            <a:endParaRPr lang="en-US" sz="4000" dirty="0"/>
          </a:p>
        </p:txBody>
      </p:sp>
      <p:sp>
        <p:nvSpPr>
          <p:cNvPr id="6" name="Text 3"/>
          <p:cNvSpPr/>
          <p:nvPr/>
        </p:nvSpPr>
        <p:spPr>
          <a:xfrm>
            <a:off x="548640" y="1508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i="1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user — supervisor, advisor, committee — can attach professional profile links. They show as small icons beside your name everywhere you appear in the team.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548640" y="2331720"/>
            <a:ext cx="5486400" cy="31089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548640" y="2331720"/>
            <a:ext cx="73152" cy="3108960"/>
          </a:xfrm>
          <a:prstGeom prst="rect">
            <a:avLst/>
          </a:prstGeom>
          <a:solidFill>
            <a:srgbClr val="FF3D8B"/>
          </a:solidFill>
          <a:ln/>
        </p:spPr>
      </p:sp>
      <p:sp>
        <p:nvSpPr>
          <p:cNvPr id="9" name="Text 6"/>
          <p:cNvSpPr/>
          <p:nvPr/>
        </p:nvSpPr>
        <p:spPr>
          <a:xfrm>
            <a:off x="749808" y="2496312"/>
            <a:ext cx="5166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to edit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777240" y="2971800"/>
            <a:ext cx="50749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Settings → My profile (your own).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Admin → user card (any user, admin only).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Team page → click your card → ProfileEditor.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Students edit theirs from the student profile (Edit).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6400800" y="2331720"/>
            <a:ext cx="5242255" cy="31089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00800" y="2331720"/>
            <a:ext cx="73152" cy="3108960"/>
          </a:xfrm>
          <a:prstGeom prst="rect">
            <a:avLst/>
          </a:prstGeom>
          <a:solidFill>
            <a:srgbClr val="6F4CFF"/>
          </a:solidFill>
          <a:ln/>
        </p:spPr>
      </p:sp>
      <p:sp>
        <p:nvSpPr>
          <p:cNvPr id="13" name="Text 10"/>
          <p:cNvSpPr/>
          <p:nvPr/>
        </p:nvSpPr>
        <p:spPr>
          <a:xfrm>
            <a:off x="6601968" y="2496312"/>
            <a:ext cx="49222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Supported fields</a:t>
            </a:r>
            <a:endParaRPr lang="en-US" sz="2200" dirty="0"/>
          </a:p>
        </p:txBody>
      </p:sp>
      <p:sp>
        <p:nvSpPr>
          <p:cNvPr id="14" name="Text 11"/>
          <p:cNvSpPr/>
          <p:nvPr/>
        </p:nvSpPr>
        <p:spPr>
          <a:xfrm>
            <a:off x="6629400" y="2971800"/>
            <a:ext cx="4876495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LinkedIn — full URL or just the handle.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ORCID — the 0000-0000-0000-0000 id or full URL.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Google Scholar — citations URL or just the user id.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Personal website (students only).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Alternate emails (info only — login stays Google).</a:t>
            </a:r>
            <a:endParaRPr lang="en-US" sz="1800" dirty="0"/>
          </a:p>
        </p:txBody>
      </p:sp>
      <p:sp>
        <p:nvSpPr>
          <p:cNvPr id="15" name="Shape 12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 · for supervisors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9814255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 / 19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F3D8B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667512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530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FF3D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STUDENTS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261872" y="749808"/>
            <a:ext cx="1038118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Student profile · the central page</a:t>
            </a:r>
            <a:endParaRPr lang="en-US" sz="4000" dirty="0"/>
          </a:p>
        </p:txBody>
      </p:sp>
      <p:sp>
        <p:nvSpPr>
          <p:cNvPr id="6" name="Shape 3"/>
          <p:cNvSpPr/>
          <p:nvPr/>
        </p:nvSpPr>
        <p:spPr>
          <a:xfrm>
            <a:off x="548640" y="1828800"/>
            <a:ext cx="5486400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48640" y="1828800"/>
            <a:ext cx="73152" cy="3931920"/>
          </a:xfrm>
          <a:prstGeom prst="rect">
            <a:avLst/>
          </a:prstGeom>
          <a:solidFill>
            <a:srgbClr val="FF3D8B"/>
          </a:solidFill>
          <a:ln/>
        </p:spPr>
      </p:sp>
      <p:sp>
        <p:nvSpPr>
          <p:cNvPr id="8" name="Text 5"/>
          <p:cNvSpPr/>
          <p:nvPr/>
        </p:nvSpPr>
        <p:spPr>
          <a:xfrm>
            <a:off x="749808" y="1993392"/>
            <a:ext cx="5166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 the page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777240" y="2697480"/>
            <a:ext cx="50749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Header: name, alias, status, profile icon-links (LinkedIn · ORCID · Scholar · Website).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Quick actions: Tasks · Calendar · Drive · Chat · Annual review · ✨ Catch-up.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Cards: thesis, publications, supervision team, recent activity, upcoming meetings.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Edits (and Delete) gated to supervisors / admin.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6400800" y="1828800"/>
            <a:ext cx="5242255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400800" y="1828800"/>
            <a:ext cx="73152" cy="3931920"/>
          </a:xfrm>
          <a:prstGeom prst="rect">
            <a:avLst/>
          </a:prstGeom>
          <a:solidFill>
            <a:srgbClr val="6F4CFF"/>
          </a:solidFill>
          <a:ln/>
        </p:spPr>
      </p:sp>
      <p:sp>
        <p:nvSpPr>
          <p:cNvPr id="12" name="Text 9"/>
          <p:cNvSpPr/>
          <p:nvPr/>
        </p:nvSpPr>
        <p:spPr>
          <a:xfrm>
            <a:off x="6601968" y="1993392"/>
            <a:ext cx="49222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✨ Catch-up summary</a:t>
            </a:r>
            <a:endParaRPr lang="en-US" sz="2200" dirty="0"/>
          </a:p>
        </p:txBody>
      </p:sp>
      <p:sp>
        <p:nvSpPr>
          <p:cNvPr id="13" name="Text 10"/>
          <p:cNvSpPr/>
          <p:nvPr/>
        </p:nvSpPr>
        <p:spPr>
          <a:xfrm>
            <a:off x="6629400" y="2697480"/>
            <a:ext cx="4876495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click → a plain-text digest for any student.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Active / overdue / blocked tasks · upcoming + recent events · thesis/pubs status · latest check-in.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Copy button — drop into notes or a 1:1 email.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Read-only; respects privacy (wellbeing only for supervisor-private viewers).</a:t>
            </a:r>
            <a:endParaRPr lang="en-US" sz="1800" dirty="0"/>
          </a:p>
        </p:txBody>
      </p:sp>
      <p:sp>
        <p:nvSpPr>
          <p:cNvPr id="14" name="Shape 11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 · for supervisors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9814255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 / 19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F7A45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667512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530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FF7A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TASKS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261872" y="749808"/>
            <a:ext cx="1038118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Tasks · oversee a student or a portfolio</a:t>
            </a:r>
            <a:endParaRPr lang="en-US" sz="4000" dirty="0"/>
          </a:p>
        </p:txBody>
      </p:sp>
      <p:sp>
        <p:nvSpPr>
          <p:cNvPr id="6" name="Text 3"/>
          <p:cNvSpPr/>
          <p:nvPr/>
        </p:nvSpPr>
        <p:spPr>
          <a:xfrm>
            <a:off x="548640" y="1508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i="1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Same Board / List / Gantt as the student — filtered by student, group, priority, category.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548640" y="2423160"/>
            <a:ext cx="3611880" cy="40233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548640" y="2423160"/>
            <a:ext cx="73152" cy="4023360"/>
          </a:xfrm>
          <a:prstGeom prst="rect">
            <a:avLst/>
          </a:prstGeom>
          <a:solidFill>
            <a:srgbClr val="FF7A45"/>
          </a:solidFill>
          <a:ln/>
        </p:spPr>
      </p:sp>
      <p:sp>
        <p:nvSpPr>
          <p:cNvPr id="9" name="Text 6"/>
          <p:cNvSpPr/>
          <p:nvPr/>
        </p:nvSpPr>
        <p:spPr>
          <a:xfrm>
            <a:off x="749808" y="2587752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Board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749808" y="3291840"/>
            <a:ext cx="3291840" cy="2990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Drag to change status.</a:t>
            </a:r>
            <a:endParaRPr lang="en-US" sz="1800" dirty="0"/>
          </a:p>
        </p:txBody>
      </p:sp>
      <p:sp>
        <p:nvSpPr>
          <p:cNvPr id="11" name="Text 8"/>
          <p:cNvSpPr/>
          <p:nvPr/>
        </p:nvSpPr>
        <p:spPr>
          <a:xfrm>
            <a:off x="749808" y="4114800"/>
            <a:ext cx="329184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Banner on new / updated cards.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Drag to Done, or confirm requests.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Filter by student, priority, group.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4343400" y="2423160"/>
            <a:ext cx="3611880" cy="40233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343400" y="2423160"/>
            <a:ext cx="73152" cy="4023360"/>
          </a:xfrm>
          <a:prstGeom prst="rect">
            <a:avLst/>
          </a:prstGeom>
          <a:solidFill>
            <a:srgbClr val="FF7A45"/>
          </a:solidFill>
          <a:ln/>
        </p:spPr>
      </p:sp>
      <p:sp>
        <p:nvSpPr>
          <p:cNvPr id="14" name="Text 11"/>
          <p:cNvSpPr/>
          <p:nvPr/>
        </p:nvSpPr>
        <p:spPr>
          <a:xfrm>
            <a:off x="4544568" y="2587752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List</a:t>
            </a:r>
            <a:endParaRPr lang="en-US" sz="2200" dirty="0"/>
          </a:p>
        </p:txBody>
      </p:sp>
      <p:sp>
        <p:nvSpPr>
          <p:cNvPr id="15" name="Text 12"/>
          <p:cNvSpPr/>
          <p:nvPr/>
        </p:nvSpPr>
        <p:spPr>
          <a:xfrm>
            <a:off x="4544568" y="3291840"/>
            <a:ext cx="3291840" cy="2990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→ Task → Sub-task table.</a:t>
            </a:r>
            <a:endParaRPr lang="en-US" sz="1800" dirty="0"/>
          </a:p>
        </p:txBody>
      </p:sp>
      <p:sp>
        <p:nvSpPr>
          <p:cNvPr id="16" name="Text 13"/>
          <p:cNvSpPr/>
          <p:nvPr/>
        </p:nvSpPr>
        <p:spPr>
          <a:xfrm>
            <a:off x="4544568" y="4114800"/>
            <a:ext cx="329184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Coloured bar for grouped rows.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📅 N badge: events linked to the task.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Multi-select to bulk-group / add.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8138160" y="2423160"/>
            <a:ext cx="3611880" cy="40233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8138160" y="2423160"/>
            <a:ext cx="73152" cy="4023360"/>
          </a:xfrm>
          <a:prstGeom prst="rect">
            <a:avLst/>
          </a:prstGeom>
          <a:solidFill>
            <a:srgbClr val="FF7A45"/>
          </a:solidFill>
          <a:ln/>
        </p:spPr>
      </p:sp>
      <p:sp>
        <p:nvSpPr>
          <p:cNvPr id="19" name="Text 16"/>
          <p:cNvSpPr/>
          <p:nvPr/>
        </p:nvSpPr>
        <p:spPr>
          <a:xfrm>
            <a:off x="8339328" y="2587752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Gantt</a:t>
            </a:r>
            <a:endParaRPr lang="en-US" sz="2200" dirty="0"/>
          </a:p>
        </p:txBody>
      </p:sp>
      <p:sp>
        <p:nvSpPr>
          <p:cNvPr id="20" name="Text 17"/>
          <p:cNvSpPr/>
          <p:nvPr/>
        </p:nvSpPr>
        <p:spPr>
          <a:xfrm>
            <a:off x="8339328" y="3291840"/>
            <a:ext cx="3291840" cy="2990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Dependency-ordered timeline.</a:t>
            </a:r>
            <a:endParaRPr lang="en-US" sz="1800" dirty="0"/>
          </a:p>
        </p:txBody>
      </p:sp>
      <p:sp>
        <p:nvSpPr>
          <p:cNvPr id="21" name="Text 18"/>
          <p:cNvSpPr/>
          <p:nvPr/>
        </p:nvSpPr>
        <p:spPr>
          <a:xfrm>
            <a:off x="8339328" y="4114800"/>
            <a:ext cx="329184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Expand a task to see sub-tasks.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◆ markers on each sub-task due.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Dependents indented under parent.</a:t>
            </a:r>
            <a:endParaRPr lang="en-US" sz="1800" dirty="0"/>
          </a:p>
        </p:txBody>
      </p:sp>
      <p:sp>
        <p:nvSpPr>
          <p:cNvPr id="22" name="Shape 19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 · for supervisors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9814255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 / 19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F7A45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667512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530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FF7A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TASKS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261872" y="749808"/>
            <a:ext cx="1038118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Tasks · approval, dependencies &amp; groups</a:t>
            </a:r>
            <a:endParaRPr lang="en-US" sz="4000" dirty="0"/>
          </a:p>
        </p:txBody>
      </p:sp>
      <p:sp>
        <p:nvSpPr>
          <p:cNvPr id="6" name="Shape 3"/>
          <p:cNvSpPr/>
          <p:nvPr/>
        </p:nvSpPr>
        <p:spPr>
          <a:xfrm>
            <a:off x="548640" y="2194560"/>
            <a:ext cx="3611880" cy="35661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48640" y="2194560"/>
            <a:ext cx="73152" cy="3566160"/>
          </a:xfrm>
          <a:prstGeom prst="rect">
            <a:avLst/>
          </a:prstGeom>
          <a:solidFill>
            <a:srgbClr val="FF7A45"/>
          </a:solidFill>
          <a:ln/>
        </p:spPr>
      </p:sp>
      <p:sp>
        <p:nvSpPr>
          <p:cNvPr id="8" name="Text 5"/>
          <p:cNvSpPr/>
          <p:nvPr/>
        </p:nvSpPr>
        <p:spPr>
          <a:xfrm>
            <a:off x="749808" y="2359152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Completion approval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777240" y="3063240"/>
            <a:ext cx="3246120" cy="2532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Students request, or drag to Done.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 get bell + badge + email.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Confirm in Done, or comment back.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4343400" y="2194560"/>
            <a:ext cx="3611880" cy="35661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343400" y="2194560"/>
            <a:ext cx="73152" cy="3566160"/>
          </a:xfrm>
          <a:prstGeom prst="rect">
            <a:avLst/>
          </a:prstGeom>
          <a:solidFill>
            <a:srgbClr val="E2445C"/>
          </a:solidFill>
          <a:ln/>
        </p:spPr>
      </p:sp>
      <p:sp>
        <p:nvSpPr>
          <p:cNvPr id="12" name="Text 9"/>
          <p:cNvSpPr/>
          <p:nvPr/>
        </p:nvSpPr>
        <p:spPr>
          <a:xfrm>
            <a:off x="4544568" y="2359152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Dependencies</a:t>
            </a:r>
            <a:endParaRPr lang="en-US" sz="2200" dirty="0"/>
          </a:p>
        </p:txBody>
      </p:sp>
      <p:sp>
        <p:nvSpPr>
          <p:cNvPr id="13" name="Text 10"/>
          <p:cNvSpPr/>
          <p:nvPr/>
        </p:nvSpPr>
        <p:spPr>
          <a:xfrm>
            <a:off x="4572000" y="3063240"/>
            <a:ext cx="3246120" cy="2532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Pick parents; child auto-Blocks.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All parents Done → child auto-To-do.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Cycles, cross-student rejected.</a:t>
            </a:r>
            <a:endParaRPr lang="en-US" sz="1800" dirty="0"/>
          </a:p>
        </p:txBody>
      </p:sp>
      <p:sp>
        <p:nvSpPr>
          <p:cNvPr id="14" name="Shape 11"/>
          <p:cNvSpPr/>
          <p:nvPr/>
        </p:nvSpPr>
        <p:spPr>
          <a:xfrm>
            <a:off x="8138160" y="2194560"/>
            <a:ext cx="3611880" cy="35661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8138160" y="2194560"/>
            <a:ext cx="73152" cy="3566160"/>
          </a:xfrm>
          <a:prstGeom prst="rect">
            <a:avLst/>
          </a:prstGeom>
          <a:solidFill>
            <a:srgbClr val="6F4CFF"/>
          </a:solidFill>
          <a:ln/>
        </p:spPr>
      </p:sp>
      <p:sp>
        <p:nvSpPr>
          <p:cNvPr id="16" name="Text 13"/>
          <p:cNvSpPr/>
          <p:nvPr/>
        </p:nvSpPr>
        <p:spPr>
          <a:xfrm>
            <a:off x="8339328" y="2359152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Groups &amp; filters</a:t>
            </a:r>
            <a:endParaRPr lang="en-US" sz="2200" dirty="0"/>
          </a:p>
        </p:txBody>
      </p:sp>
      <p:sp>
        <p:nvSpPr>
          <p:cNvPr id="17" name="Text 14"/>
          <p:cNvSpPr/>
          <p:nvPr/>
        </p:nvSpPr>
        <p:spPr>
          <a:xfrm>
            <a:off x="8366760" y="3063240"/>
            <a:ext cx="3246120" cy="2532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from List multi-select (per-student).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Filter board by student or group.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Tasks are always student-scoped (no team / general).</a:t>
            </a:r>
            <a:endParaRPr lang="en-US" sz="1800" dirty="0"/>
          </a:p>
        </p:txBody>
      </p:sp>
      <p:sp>
        <p:nvSpPr>
          <p:cNvPr id="18" name="Shape 15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 · for supervisors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9814255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 / 19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00D1C1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667512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530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00D1C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CALENDAR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261872" y="749808"/>
            <a:ext cx="1038118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Calendar &amp; availability</a:t>
            </a:r>
            <a:endParaRPr lang="en-US" sz="4000" dirty="0"/>
          </a:p>
        </p:txBody>
      </p:sp>
      <p:sp>
        <p:nvSpPr>
          <p:cNvPr id="6" name="Shape 3"/>
          <p:cNvSpPr/>
          <p:nvPr/>
        </p:nvSpPr>
        <p:spPr>
          <a:xfrm>
            <a:off x="548640" y="1828800"/>
            <a:ext cx="5486400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48640" y="1828800"/>
            <a:ext cx="73152" cy="3931920"/>
          </a:xfrm>
          <a:prstGeom prst="rect">
            <a:avLst/>
          </a:prstGeom>
          <a:solidFill>
            <a:srgbClr val="00D1C1"/>
          </a:solidFill>
          <a:ln/>
        </p:spPr>
      </p:sp>
      <p:sp>
        <p:nvSpPr>
          <p:cNvPr id="8" name="Text 5"/>
          <p:cNvSpPr/>
          <p:nvPr/>
        </p:nvSpPr>
        <p:spPr>
          <a:xfrm>
            <a:off x="749808" y="1993392"/>
            <a:ext cx="5166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Create &amp; sync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777240" y="2697480"/>
            <a:ext cx="50749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Push to Google Calendar (student's shared, or General).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Recurring events (daily/weekly/monthly) pushed natively.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Tasks AND sub-task deadlines auto-sync as all-day Google entries.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Week/Day view covers all 24h + all-day strip above hours.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Admin → Maintenance → Calendar cleanup repairs legacy disparities.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6400800" y="1828800"/>
            <a:ext cx="5242255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400800" y="1828800"/>
            <a:ext cx="73152" cy="3931920"/>
          </a:xfrm>
          <a:prstGeom prst="rect">
            <a:avLst/>
          </a:prstGeom>
          <a:solidFill>
            <a:srgbClr val="00D1C1"/>
          </a:solidFill>
          <a:ln/>
        </p:spPr>
      </p:sp>
      <p:sp>
        <p:nvSpPr>
          <p:cNvPr id="12" name="Text 9"/>
          <p:cNvSpPr/>
          <p:nvPr/>
        </p:nvSpPr>
        <p:spPr>
          <a:xfrm>
            <a:off x="6601968" y="1993392"/>
            <a:ext cx="49222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1:1 meetings &amp; availability</a:t>
            </a:r>
            <a:endParaRPr lang="en-US" sz="2200" dirty="0"/>
          </a:p>
        </p:txBody>
      </p:sp>
      <p:sp>
        <p:nvSpPr>
          <p:cNvPr id="13" name="Text 10"/>
          <p:cNvSpPr/>
          <p:nvPr/>
        </p:nvSpPr>
        <p:spPr>
          <a:xfrm>
            <a:off x="6629400" y="2697480"/>
            <a:ext cx="4876495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Mark an event as a 1:1 meeting → agenda + notes + action items.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Action items → tasks: one-click create tasks for the meeting's student.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Mark yourself away via My availability — students see opaque ‘Unavailable’ blocks.</a:t>
            </a:r>
            <a:endParaRPr lang="en-US" sz="1800" dirty="0"/>
          </a:p>
        </p:txBody>
      </p:sp>
      <p:sp>
        <p:nvSpPr>
          <p:cNvPr id="14" name="Shape 11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 · for supervisors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9814255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 / 19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00CA72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667512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530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00CA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CHAT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261872" y="749808"/>
            <a:ext cx="1038118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Chat · channels for the team</a:t>
            </a:r>
            <a:endParaRPr lang="en-US" sz="4000" dirty="0"/>
          </a:p>
        </p:txBody>
      </p:sp>
      <p:sp>
        <p:nvSpPr>
          <p:cNvPr id="6" name="Shape 3"/>
          <p:cNvSpPr/>
          <p:nvPr/>
        </p:nvSpPr>
        <p:spPr>
          <a:xfrm>
            <a:off x="548640" y="1828800"/>
            <a:ext cx="5486400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48640" y="1828800"/>
            <a:ext cx="73152" cy="3931920"/>
          </a:xfrm>
          <a:prstGeom prst="rect">
            <a:avLst/>
          </a:prstGeom>
          <a:solidFill>
            <a:srgbClr val="00CA72"/>
          </a:solidFill>
          <a:ln/>
        </p:spPr>
      </p:sp>
      <p:sp>
        <p:nvSpPr>
          <p:cNvPr id="8" name="Text 5"/>
          <p:cNvSpPr/>
          <p:nvPr/>
        </p:nvSpPr>
        <p:spPr>
          <a:xfrm>
            <a:off x="749808" y="1993392"/>
            <a:ext cx="5166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Channels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777240" y="2697480"/>
            <a:ext cx="50749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 Team · ‹student› channel includes the whole supervision team + the student.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Spin up co-supervisor or 1:1 channels as needed.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Edit channel: name, description, colour and members (member changes confirmed).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Delete a channel removes all messages (no undo).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6400800" y="1828800"/>
            <a:ext cx="5242255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400800" y="1828800"/>
            <a:ext cx="73152" cy="3931920"/>
          </a:xfrm>
          <a:prstGeom prst="rect">
            <a:avLst/>
          </a:prstGeom>
          <a:solidFill>
            <a:srgbClr val="00CA72"/>
          </a:solidFill>
          <a:ln/>
        </p:spPr>
      </p:sp>
      <p:sp>
        <p:nvSpPr>
          <p:cNvPr id="12" name="Text 9"/>
          <p:cNvSpPr/>
          <p:nvPr/>
        </p:nvSpPr>
        <p:spPr>
          <a:xfrm>
            <a:off x="6601968" y="1993392"/>
            <a:ext cx="49222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Conversation features</a:t>
            </a:r>
            <a:endParaRPr lang="en-US" sz="2200" dirty="0"/>
          </a:p>
        </p:txBody>
      </p:sp>
      <p:sp>
        <p:nvSpPr>
          <p:cNvPr id="13" name="Text 10"/>
          <p:cNvSpPr/>
          <p:nvPr/>
        </p:nvSpPr>
        <p:spPr>
          <a:xfrm>
            <a:off x="6629400" y="2697480"/>
            <a:ext cx="4876495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Reply to a message; quoted snippet in the bubble.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Drag-and-drop files; Ctrl/⌘+V paste images.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Delivery ticks (sent/delivered/seen).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Configure notification sound + volume (⋮ → Notification sound).</a:t>
            </a:r>
            <a:endParaRPr lang="en-US" sz="1800" dirty="0"/>
          </a:p>
        </p:txBody>
      </p:sp>
      <p:sp>
        <p:nvSpPr>
          <p:cNvPr id="14" name="Shape 11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 · for supervisors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9814255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 / 19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6F4CFF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667512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530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6F4C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READING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261872" y="749808"/>
            <a:ext cx="1038118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Reading, thesis &amp; publications</a:t>
            </a:r>
            <a:endParaRPr lang="en-US" sz="4000" dirty="0"/>
          </a:p>
        </p:txBody>
      </p:sp>
      <p:sp>
        <p:nvSpPr>
          <p:cNvPr id="6" name="Shape 3"/>
          <p:cNvSpPr/>
          <p:nvPr/>
        </p:nvSpPr>
        <p:spPr>
          <a:xfrm>
            <a:off x="548640" y="1828800"/>
            <a:ext cx="5486400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48640" y="1828800"/>
            <a:ext cx="73152" cy="3931920"/>
          </a:xfrm>
          <a:prstGeom prst="rect">
            <a:avLst/>
          </a:prstGeom>
          <a:solidFill>
            <a:srgbClr val="6F4CFF"/>
          </a:solidFill>
          <a:ln/>
        </p:spPr>
      </p:sp>
      <p:sp>
        <p:nvSpPr>
          <p:cNvPr id="8" name="Text 5"/>
          <p:cNvSpPr/>
          <p:nvPr/>
        </p:nvSpPr>
        <p:spPr>
          <a:xfrm>
            <a:off x="749808" y="1993392"/>
            <a:ext cx="5166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Reading approval flow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777240" y="2697480"/>
            <a:ext cx="50749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Students propose papers with a ‘Why relevant?’ note.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 see them in the Pending Approval card.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Approve (with optional comment) or reject (with reason) — the student is notified.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Approved items appear in the main queue with status tracking.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6400800" y="1828800"/>
            <a:ext cx="5242255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400800" y="1828800"/>
            <a:ext cx="73152" cy="3931920"/>
          </a:xfrm>
          <a:prstGeom prst="rect">
            <a:avLst/>
          </a:prstGeom>
          <a:solidFill>
            <a:srgbClr val="6F4CFF"/>
          </a:solidFill>
          <a:ln/>
        </p:spPr>
      </p:sp>
      <p:sp>
        <p:nvSpPr>
          <p:cNvPr id="12" name="Text 9"/>
          <p:cNvSpPr/>
          <p:nvPr/>
        </p:nvSpPr>
        <p:spPr>
          <a:xfrm>
            <a:off x="6601968" y="1993392"/>
            <a:ext cx="49222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Thesis &amp; publications</a:t>
            </a:r>
            <a:endParaRPr lang="en-US" sz="2200" dirty="0"/>
          </a:p>
        </p:txBody>
      </p:sp>
      <p:sp>
        <p:nvSpPr>
          <p:cNvPr id="13" name="Text 10"/>
          <p:cNvSpPr/>
          <p:nvPr/>
        </p:nvSpPr>
        <p:spPr>
          <a:xfrm>
            <a:off x="6629400" y="2697480"/>
            <a:ext cx="4876495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Chapters (planned → drafting → in review → revising → done) and pubs (in prep → published).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Drive picker per item.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Feeds the Annual review export (print to PDF).</a:t>
            </a:r>
            <a:endParaRPr lang="en-US" sz="1800" dirty="0"/>
          </a:p>
        </p:txBody>
      </p:sp>
      <p:sp>
        <p:nvSpPr>
          <p:cNvPr id="14" name="Shape 11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 · for supervisors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9814255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 / 19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F7A45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667512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530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FF7A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TASKS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261872" y="749808"/>
            <a:ext cx="1038118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Weekly check-ins &amp; wellbeing (private)</a:t>
            </a:r>
            <a:endParaRPr lang="en-US" sz="4000" dirty="0"/>
          </a:p>
        </p:txBody>
      </p:sp>
      <p:sp>
        <p:nvSpPr>
          <p:cNvPr id="6" name="Shape 3"/>
          <p:cNvSpPr/>
          <p:nvPr/>
        </p:nvSpPr>
        <p:spPr>
          <a:xfrm>
            <a:off x="548640" y="1828800"/>
            <a:ext cx="5486400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48640" y="1828800"/>
            <a:ext cx="73152" cy="3931920"/>
          </a:xfrm>
          <a:prstGeom prst="rect">
            <a:avLst/>
          </a:prstGeom>
          <a:solidFill>
            <a:srgbClr val="FF7A45"/>
          </a:solidFill>
          <a:ln/>
        </p:spPr>
      </p:sp>
      <p:sp>
        <p:nvSpPr>
          <p:cNvPr id="8" name="Text 5"/>
          <p:cNvSpPr/>
          <p:nvPr/>
        </p:nvSpPr>
        <p:spPr>
          <a:xfrm>
            <a:off x="749808" y="1993392"/>
            <a:ext cx="5166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Check-ins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777240" y="2697480"/>
            <a:ext cx="50749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Per-week: did / blockers / next.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All in one card on the student's profile, with history.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no-check-in week is highlighted so you don't miss it.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6400800" y="1828800"/>
            <a:ext cx="5242255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400800" y="1828800"/>
            <a:ext cx="73152" cy="3931920"/>
          </a:xfrm>
          <a:prstGeom prst="rect">
            <a:avLst/>
          </a:prstGeom>
          <a:solidFill>
            <a:srgbClr val="FF3D8B"/>
          </a:solidFill>
          <a:ln/>
        </p:spPr>
      </p:sp>
      <p:sp>
        <p:nvSpPr>
          <p:cNvPr id="12" name="Text 9"/>
          <p:cNvSpPr/>
          <p:nvPr/>
        </p:nvSpPr>
        <p:spPr>
          <a:xfrm>
            <a:off x="6601968" y="1993392"/>
            <a:ext cx="49222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Wellbeing</a:t>
            </a:r>
            <a:endParaRPr lang="en-US" sz="2200" dirty="0"/>
          </a:p>
        </p:txBody>
      </p:sp>
      <p:sp>
        <p:nvSpPr>
          <p:cNvPr id="13" name="Text 10"/>
          <p:cNvSpPr/>
          <p:nvPr/>
        </p:nvSpPr>
        <p:spPr>
          <a:xfrm>
            <a:off x="6629400" y="2697480"/>
            <a:ext cx="4876495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1–5 score, optional, supervisor-private.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Aggregated into the digest only for supervisors/admin/team advisors.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Never visible to other students, external advisors, or committee.</a:t>
            </a:r>
            <a:endParaRPr lang="en-US" sz="1800" dirty="0"/>
          </a:p>
        </p:txBody>
      </p:sp>
      <p:sp>
        <p:nvSpPr>
          <p:cNvPr id="14" name="Shape 11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 · for supervisors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9814255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 / 19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E2445C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667512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530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E2445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261872" y="749808"/>
            <a:ext cx="1038118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Activity log &amp; history</a:t>
            </a:r>
            <a:endParaRPr lang="en-US" sz="4000" dirty="0"/>
          </a:p>
        </p:txBody>
      </p:sp>
      <p:sp>
        <p:nvSpPr>
          <p:cNvPr id="6" name="Shape 3"/>
          <p:cNvSpPr/>
          <p:nvPr/>
        </p:nvSpPr>
        <p:spPr>
          <a:xfrm>
            <a:off x="548640" y="1828800"/>
            <a:ext cx="5486400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48640" y="1828800"/>
            <a:ext cx="73152" cy="3931920"/>
          </a:xfrm>
          <a:prstGeom prst="rect">
            <a:avLst/>
          </a:prstGeom>
          <a:solidFill>
            <a:srgbClr val="E2445C"/>
          </a:solidFill>
          <a:ln/>
        </p:spPr>
      </p:sp>
      <p:sp>
        <p:nvSpPr>
          <p:cNvPr id="8" name="Text 5"/>
          <p:cNvSpPr/>
          <p:nvPr/>
        </p:nvSpPr>
        <p:spPr>
          <a:xfrm>
            <a:off x="749808" y="1993392"/>
            <a:ext cx="5166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gets logged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777240" y="2697480"/>
            <a:ext cx="50749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Task / event / reading / availability / student-profile changes.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Only meaningful changes — auto-save bursts coalesce into one entry.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Summaries are human-readable: ‘Title — moved to In progress, due May 20’.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Each task has its own History panel from the detail dialog.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6400800" y="1828800"/>
            <a:ext cx="5242255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400800" y="1828800"/>
            <a:ext cx="73152" cy="3931920"/>
          </a:xfrm>
          <a:prstGeom prst="rect">
            <a:avLst/>
          </a:prstGeom>
          <a:solidFill>
            <a:srgbClr val="E2445C"/>
          </a:solidFill>
          <a:ln/>
        </p:spPr>
      </p:sp>
      <p:sp>
        <p:nvSpPr>
          <p:cNvPr id="12" name="Text 9"/>
          <p:cNvSpPr/>
          <p:nvPr/>
        </p:nvSpPr>
        <p:spPr>
          <a:xfrm>
            <a:off x="6601968" y="1993392"/>
            <a:ext cx="49222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Visibility</a:t>
            </a:r>
            <a:endParaRPr lang="en-US" sz="2200" dirty="0"/>
          </a:p>
        </p:txBody>
      </p:sp>
      <p:sp>
        <p:nvSpPr>
          <p:cNvPr id="13" name="Text 10"/>
          <p:cNvSpPr/>
          <p:nvPr/>
        </p:nvSpPr>
        <p:spPr>
          <a:xfrm>
            <a:off x="6629400" y="2697480"/>
            <a:ext cx="4876495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Students see only their own actions.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Supervisors see everything for their students + co-supervisors' actions.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Admins see everything; can export or purge the log.</a:t>
            </a:r>
            <a:endParaRPr lang="en-US" sz="1800" dirty="0"/>
          </a:p>
        </p:txBody>
      </p:sp>
      <p:sp>
        <p:nvSpPr>
          <p:cNvPr id="14" name="Shape 11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 · for supervisors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9814255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 / 19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59E0B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667512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530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F59E0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TEAM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261872" y="749808"/>
            <a:ext cx="1038118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Team workspace, advisors &amp; workload</a:t>
            </a:r>
            <a:endParaRPr lang="en-US" sz="4000" dirty="0"/>
          </a:p>
        </p:txBody>
      </p:sp>
      <p:sp>
        <p:nvSpPr>
          <p:cNvPr id="6" name="Shape 3"/>
          <p:cNvSpPr/>
          <p:nvPr/>
        </p:nvSpPr>
        <p:spPr>
          <a:xfrm>
            <a:off x="548640" y="2194560"/>
            <a:ext cx="3611880" cy="35661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48640" y="2194560"/>
            <a:ext cx="73152" cy="356616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8" name="Text 5"/>
          <p:cNvSpPr/>
          <p:nvPr/>
        </p:nvSpPr>
        <p:spPr>
          <a:xfrm>
            <a:off x="749808" y="2359152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Team workspace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777240" y="3063240"/>
            <a:ext cx="3246120" cy="2532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Notes shared by supervisors + admin.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shared team Drive folder.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Hidden from students + advisors.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4343400" y="2194560"/>
            <a:ext cx="3611880" cy="35661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343400" y="2194560"/>
            <a:ext cx="73152" cy="3566160"/>
          </a:xfrm>
          <a:prstGeom prst="rect">
            <a:avLst/>
          </a:prstGeom>
          <a:solidFill>
            <a:srgbClr val="6F4CFF"/>
          </a:solidFill>
          <a:ln/>
        </p:spPr>
      </p:sp>
      <p:sp>
        <p:nvSpPr>
          <p:cNvPr id="12" name="Text 9"/>
          <p:cNvSpPr/>
          <p:nvPr/>
        </p:nvSpPr>
        <p:spPr>
          <a:xfrm>
            <a:off x="4544568" y="2359152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Advisor suggestions</a:t>
            </a:r>
            <a:endParaRPr lang="en-US" sz="2200" dirty="0"/>
          </a:p>
        </p:txBody>
      </p:sp>
      <p:sp>
        <p:nvSpPr>
          <p:cNvPr id="13" name="Text 10"/>
          <p:cNvSpPr/>
          <p:nvPr/>
        </p:nvSpPr>
        <p:spPr>
          <a:xfrm>
            <a:off x="4572000" y="3063240"/>
            <a:ext cx="3246120" cy="2532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Advisors post tagged suggestions.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Violet bubble on Team sidebar.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Supervisors read; advisors author.</a:t>
            </a:r>
            <a:endParaRPr lang="en-US" sz="1800" dirty="0"/>
          </a:p>
        </p:txBody>
      </p:sp>
      <p:sp>
        <p:nvSpPr>
          <p:cNvPr id="14" name="Shape 11"/>
          <p:cNvSpPr/>
          <p:nvPr/>
        </p:nvSpPr>
        <p:spPr>
          <a:xfrm>
            <a:off x="8138160" y="2194560"/>
            <a:ext cx="3611880" cy="35661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8138160" y="2194560"/>
            <a:ext cx="73152" cy="356616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6" name="Text 13"/>
          <p:cNvSpPr/>
          <p:nvPr/>
        </p:nvSpPr>
        <p:spPr>
          <a:xfrm>
            <a:off x="8339328" y="2359152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Workload table</a:t>
            </a:r>
            <a:endParaRPr lang="en-US" sz="2200" dirty="0"/>
          </a:p>
        </p:txBody>
      </p:sp>
      <p:sp>
        <p:nvSpPr>
          <p:cNvPr id="17" name="Text 14"/>
          <p:cNvSpPr/>
          <p:nvPr/>
        </p:nvSpPr>
        <p:spPr>
          <a:xfrm>
            <a:off x="8366760" y="3063240"/>
            <a:ext cx="3246120" cy="2532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Per-supervisor: students, open, overdue.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Per-student: status, open, overdue.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Sorted by load — spot overloads.</a:t>
            </a:r>
            <a:endParaRPr lang="en-US" sz="1800" dirty="0"/>
          </a:p>
        </p:txBody>
      </p:sp>
      <p:sp>
        <p:nvSpPr>
          <p:cNvPr id="18" name="Shape 15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 · for supervisors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9814255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 / 19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F3D8B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667512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530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FF3D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NOTIFICATIONS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261872" y="749808"/>
            <a:ext cx="1038118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Notifications &amp; email digest</a:t>
            </a:r>
            <a:endParaRPr lang="en-US" sz="4000" dirty="0"/>
          </a:p>
        </p:txBody>
      </p:sp>
      <p:sp>
        <p:nvSpPr>
          <p:cNvPr id="6" name="Shape 3"/>
          <p:cNvSpPr/>
          <p:nvPr/>
        </p:nvSpPr>
        <p:spPr>
          <a:xfrm>
            <a:off x="548640" y="1828800"/>
            <a:ext cx="5486400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48640" y="1828800"/>
            <a:ext cx="73152" cy="3931920"/>
          </a:xfrm>
          <a:prstGeom prst="rect">
            <a:avLst/>
          </a:prstGeom>
          <a:solidFill>
            <a:srgbClr val="FF3D8B"/>
          </a:solidFill>
          <a:ln/>
        </p:spPr>
      </p:sp>
      <p:sp>
        <p:nvSpPr>
          <p:cNvPr id="8" name="Text 5"/>
          <p:cNvSpPr/>
          <p:nvPr/>
        </p:nvSpPr>
        <p:spPr>
          <a:xfrm>
            <a:off x="749808" y="1993392"/>
            <a:ext cx="5166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In-app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777240" y="2697480"/>
            <a:ext cx="50749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🔔 bell: task/event/reading changes; co-supervisor away periods; student completion requests.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Sidebar badges per module; coloured ring/banner on new/updated items.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Tab title + favicon + sound when chat is unread.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When you comment / change a student's task meaningfully, they're notified directly (bell + email).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6400800" y="1828800"/>
            <a:ext cx="5242255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400800" y="1828800"/>
            <a:ext cx="73152" cy="3931920"/>
          </a:xfrm>
          <a:prstGeom prst="rect">
            <a:avLst/>
          </a:prstGeom>
          <a:solidFill>
            <a:srgbClr val="00CA72"/>
          </a:solidFill>
          <a:ln/>
        </p:spPr>
      </p:sp>
      <p:sp>
        <p:nvSpPr>
          <p:cNvPr id="12" name="Text 9"/>
          <p:cNvSpPr/>
          <p:nvPr/>
        </p:nvSpPr>
        <p:spPr>
          <a:xfrm>
            <a:off x="6601968" y="1993392"/>
            <a:ext cx="49222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Weekly email digest</a:t>
            </a:r>
            <a:endParaRPr lang="en-US" sz="2200" dirty="0"/>
          </a:p>
        </p:txBody>
      </p:sp>
      <p:sp>
        <p:nvSpPr>
          <p:cNvPr id="13" name="Text 10"/>
          <p:cNvSpPr/>
          <p:nvPr/>
        </p:nvSpPr>
        <p:spPr>
          <a:xfrm>
            <a:off x="6629400" y="2697480"/>
            <a:ext cx="4876495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Monday morning per-supervisor summary (when Resend is configured).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Counts of overdue tasks, low-wellbeing check-ins, new readings.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Opt-out in Settings → Notifications.</a:t>
            </a:r>
            <a:endParaRPr lang="en-US" sz="1800" dirty="0"/>
          </a:p>
        </p:txBody>
      </p:sp>
      <p:sp>
        <p:nvSpPr>
          <p:cNvPr id="14" name="Shape 11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 · for supervisors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9814255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 / 19</a:t>
            </a:r>
            <a:endParaRPr lang="en-US" sz="13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6F4CFF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667512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530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6F4C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FEEDBACK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261872" y="749808"/>
            <a:ext cx="1038118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Feedback to admin · Annual review</a:t>
            </a:r>
            <a:endParaRPr lang="en-US" sz="4000" dirty="0"/>
          </a:p>
        </p:txBody>
      </p:sp>
      <p:sp>
        <p:nvSpPr>
          <p:cNvPr id="6" name="Shape 3"/>
          <p:cNvSpPr/>
          <p:nvPr/>
        </p:nvSpPr>
        <p:spPr>
          <a:xfrm>
            <a:off x="548640" y="1828800"/>
            <a:ext cx="5486400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48640" y="1828800"/>
            <a:ext cx="73152" cy="3931920"/>
          </a:xfrm>
          <a:prstGeom prst="rect">
            <a:avLst/>
          </a:prstGeom>
          <a:solidFill>
            <a:srgbClr val="6F4CFF"/>
          </a:solidFill>
          <a:ln/>
        </p:spPr>
      </p:sp>
      <p:sp>
        <p:nvSpPr>
          <p:cNvPr id="8" name="Text 5"/>
          <p:cNvSpPr/>
          <p:nvPr/>
        </p:nvSpPr>
        <p:spPr>
          <a:xfrm>
            <a:off x="749808" y="1993392"/>
            <a:ext cx="5166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Feedback (threaded)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777240" y="2697480"/>
            <a:ext cx="50749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Bug / Suggestion / Other + optional photo.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Status: Open / Planned / In progress / Done / Declined.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Back-and-forth thread — submitter ↔ admin can reply each other.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Sidebar badge + email on every new reply in your thread.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Collapse old entries; remembered across visits.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6400800" y="1828800"/>
            <a:ext cx="5242255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400800" y="1828800"/>
            <a:ext cx="73152" cy="3931920"/>
          </a:xfrm>
          <a:prstGeom prst="rect">
            <a:avLst/>
          </a:prstGeom>
          <a:solidFill>
            <a:srgbClr val="E2445C"/>
          </a:solidFill>
          <a:ln/>
        </p:spPr>
      </p:sp>
      <p:sp>
        <p:nvSpPr>
          <p:cNvPr id="12" name="Text 9"/>
          <p:cNvSpPr/>
          <p:nvPr/>
        </p:nvSpPr>
        <p:spPr>
          <a:xfrm>
            <a:off x="6601968" y="1993392"/>
            <a:ext cx="49222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Annual review export</a:t>
            </a:r>
            <a:endParaRPr lang="en-US" sz="2200" dirty="0"/>
          </a:p>
        </p:txBody>
      </p:sp>
      <p:sp>
        <p:nvSpPr>
          <p:cNvPr id="13" name="Text 10"/>
          <p:cNvSpPr/>
          <p:nvPr/>
        </p:nvSpPr>
        <p:spPr>
          <a:xfrm>
            <a:off x="6629400" y="2697480"/>
            <a:ext cx="4876495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Print-styled page at /students/[id]/review?from=&amp;to=.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Header is a student-details block; then thesis, publications, completed/overdue tasks, meetings, check-in text.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Hard-excludes private supervisor notes and wellbeing scores.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Cmd+P → Save as PDF for a clean document.</a:t>
            </a:r>
            <a:endParaRPr lang="en-US" sz="1800" dirty="0"/>
          </a:p>
        </p:txBody>
      </p:sp>
      <p:sp>
        <p:nvSpPr>
          <p:cNvPr id="14" name="Shape 11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 · for supervisors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9814255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 / 19</a:t>
            </a:r>
            <a:endParaRPr lang="en-US" sz="13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6F4CFF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667512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530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6F4C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DASHBOARD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261872" y="749808"/>
            <a:ext cx="1038118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day · as a supervisor</a:t>
            </a:r>
            <a:endParaRPr lang="en-US" sz="4000" dirty="0"/>
          </a:p>
        </p:txBody>
      </p:sp>
      <p:sp>
        <p:nvSpPr>
          <p:cNvPr id="6" name="Text 3"/>
          <p:cNvSpPr/>
          <p:nvPr/>
        </p:nvSpPr>
        <p:spPr>
          <a:xfrm>
            <a:off x="548640" y="1508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i="1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Six moments from a normal supervision day, end-to-end.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548640" y="2286000"/>
            <a:ext cx="361188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749808" y="2487168"/>
            <a:ext cx="502920" cy="502920"/>
          </a:xfrm>
          <a:prstGeom prst="ellipse">
            <a:avLst/>
          </a:prstGeom>
          <a:solidFill>
            <a:srgbClr val="6F4CFF"/>
          </a:solidFill>
          <a:ln/>
        </p:spPr>
      </p:sp>
      <p:sp>
        <p:nvSpPr>
          <p:cNvPr id="9" name="Text 6"/>
          <p:cNvSpPr/>
          <p:nvPr/>
        </p:nvSpPr>
        <p:spPr>
          <a:xfrm>
            <a:off x="749808" y="248716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1417320" y="2532888"/>
            <a:ext cx="25420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Morning</a:t>
            </a:r>
            <a:endParaRPr lang="en-US" sz="2200" dirty="0"/>
          </a:p>
        </p:txBody>
      </p:sp>
      <p:sp>
        <p:nvSpPr>
          <p:cNvPr id="11" name="Text 8"/>
          <p:cNvSpPr/>
          <p:nvPr/>
        </p:nvSpPr>
        <p:spPr>
          <a:xfrm>
            <a:off x="749808" y="3154680"/>
            <a:ext cx="3246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Dashboard scan — counts across all students; bell first.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4343400" y="2286000"/>
            <a:ext cx="361188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544568" y="2487168"/>
            <a:ext cx="502920" cy="502920"/>
          </a:xfrm>
          <a:prstGeom prst="ellipse">
            <a:avLst/>
          </a:prstGeom>
          <a:solidFill>
            <a:srgbClr val="FF7A45"/>
          </a:solidFill>
          <a:ln/>
        </p:spPr>
      </p:sp>
      <p:sp>
        <p:nvSpPr>
          <p:cNvPr id="14" name="Text 11"/>
          <p:cNvSpPr/>
          <p:nvPr/>
        </p:nvSpPr>
        <p:spPr>
          <a:xfrm>
            <a:off x="4544568" y="248716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2200" dirty="0"/>
          </a:p>
        </p:txBody>
      </p:sp>
      <p:sp>
        <p:nvSpPr>
          <p:cNvPr id="15" name="Text 12"/>
          <p:cNvSpPr/>
          <p:nvPr/>
        </p:nvSpPr>
        <p:spPr>
          <a:xfrm>
            <a:off x="5212080" y="2532888"/>
            <a:ext cx="25420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Triage</a:t>
            </a:r>
            <a:endParaRPr lang="en-US" sz="2200" dirty="0"/>
          </a:p>
        </p:txBody>
      </p:sp>
      <p:sp>
        <p:nvSpPr>
          <p:cNvPr id="16" name="Text 13"/>
          <p:cNvSpPr/>
          <p:nvPr/>
        </p:nvSpPr>
        <p:spPr>
          <a:xfrm>
            <a:off x="4544568" y="3154680"/>
            <a:ext cx="3246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Approve completion requests; reassign or re-prioritise.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8138160" y="2286000"/>
            <a:ext cx="361188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8339328" y="2487168"/>
            <a:ext cx="502920" cy="502920"/>
          </a:xfrm>
          <a:prstGeom prst="ellipse">
            <a:avLst/>
          </a:prstGeom>
          <a:solidFill>
            <a:srgbClr val="FF3D8B"/>
          </a:solidFill>
          <a:ln/>
        </p:spPr>
      </p:sp>
      <p:sp>
        <p:nvSpPr>
          <p:cNvPr id="19" name="Text 16"/>
          <p:cNvSpPr/>
          <p:nvPr/>
        </p:nvSpPr>
        <p:spPr>
          <a:xfrm>
            <a:off x="8339328" y="248716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2200" dirty="0"/>
          </a:p>
        </p:txBody>
      </p:sp>
      <p:sp>
        <p:nvSpPr>
          <p:cNvPr id="20" name="Text 17"/>
          <p:cNvSpPr/>
          <p:nvPr/>
        </p:nvSpPr>
        <p:spPr>
          <a:xfrm>
            <a:off x="9006840" y="2532888"/>
            <a:ext cx="25420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1:1 prep</a:t>
            </a:r>
            <a:endParaRPr lang="en-US" sz="2200" dirty="0"/>
          </a:p>
        </p:txBody>
      </p:sp>
      <p:sp>
        <p:nvSpPr>
          <p:cNvPr id="21" name="Text 18"/>
          <p:cNvSpPr/>
          <p:nvPr/>
        </p:nvSpPr>
        <p:spPr>
          <a:xfrm>
            <a:off x="8339328" y="3154680"/>
            <a:ext cx="3246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Open the student → ✨ Catch-up → paste into agenda.</a:t>
            </a:r>
            <a:endParaRPr lang="en-US" sz="1800" dirty="0"/>
          </a:p>
        </p:txBody>
      </p:sp>
      <p:sp>
        <p:nvSpPr>
          <p:cNvPr id="22" name="Shape 19"/>
          <p:cNvSpPr/>
          <p:nvPr/>
        </p:nvSpPr>
        <p:spPr>
          <a:xfrm>
            <a:off x="548640" y="4297680"/>
            <a:ext cx="361188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23" name="Shape 20"/>
          <p:cNvSpPr/>
          <p:nvPr/>
        </p:nvSpPr>
        <p:spPr>
          <a:xfrm>
            <a:off x="749808" y="4498848"/>
            <a:ext cx="502920" cy="502920"/>
          </a:xfrm>
          <a:prstGeom prst="ellipse">
            <a:avLst/>
          </a:prstGeom>
          <a:solidFill>
            <a:srgbClr val="00D1C1"/>
          </a:solidFill>
          <a:ln/>
        </p:spPr>
      </p:sp>
      <p:sp>
        <p:nvSpPr>
          <p:cNvPr id="24" name="Text 21"/>
          <p:cNvSpPr/>
          <p:nvPr/>
        </p:nvSpPr>
        <p:spPr>
          <a:xfrm>
            <a:off x="749808" y="44988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2200" dirty="0"/>
          </a:p>
        </p:txBody>
      </p:sp>
      <p:sp>
        <p:nvSpPr>
          <p:cNvPr id="25" name="Text 22"/>
          <p:cNvSpPr/>
          <p:nvPr/>
        </p:nvSpPr>
        <p:spPr>
          <a:xfrm>
            <a:off x="1417320" y="4544568"/>
            <a:ext cx="25420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Meeting</a:t>
            </a:r>
            <a:endParaRPr lang="en-US" sz="2200" dirty="0"/>
          </a:p>
        </p:txBody>
      </p:sp>
      <p:sp>
        <p:nvSpPr>
          <p:cNvPr id="26" name="Text 23"/>
          <p:cNvSpPr/>
          <p:nvPr/>
        </p:nvSpPr>
        <p:spPr>
          <a:xfrm>
            <a:off x="749808" y="5166360"/>
            <a:ext cx="3246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Mark event as 1:1 → notes + actions → one-click tasks.</a:t>
            </a:r>
            <a:endParaRPr lang="en-US" sz="1800" dirty="0"/>
          </a:p>
        </p:txBody>
      </p:sp>
      <p:sp>
        <p:nvSpPr>
          <p:cNvPr id="27" name="Shape 24"/>
          <p:cNvSpPr/>
          <p:nvPr/>
        </p:nvSpPr>
        <p:spPr>
          <a:xfrm>
            <a:off x="4343400" y="4297680"/>
            <a:ext cx="361188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28" name="Shape 25"/>
          <p:cNvSpPr/>
          <p:nvPr/>
        </p:nvSpPr>
        <p:spPr>
          <a:xfrm>
            <a:off x="4544568" y="4498848"/>
            <a:ext cx="502920" cy="502920"/>
          </a:xfrm>
          <a:prstGeom prst="ellipse">
            <a:avLst/>
          </a:prstGeom>
          <a:solidFill>
            <a:srgbClr val="6F4CFF"/>
          </a:solidFill>
          <a:ln/>
        </p:spPr>
      </p:sp>
      <p:sp>
        <p:nvSpPr>
          <p:cNvPr id="29" name="Text 26"/>
          <p:cNvSpPr/>
          <p:nvPr/>
        </p:nvSpPr>
        <p:spPr>
          <a:xfrm>
            <a:off x="4544568" y="44988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2200" dirty="0"/>
          </a:p>
        </p:txBody>
      </p:sp>
      <p:sp>
        <p:nvSpPr>
          <p:cNvPr id="30" name="Text 27"/>
          <p:cNvSpPr/>
          <p:nvPr/>
        </p:nvSpPr>
        <p:spPr>
          <a:xfrm>
            <a:off x="5212080" y="4544568"/>
            <a:ext cx="25420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Reading</a:t>
            </a:r>
            <a:endParaRPr lang="en-US" sz="2200" dirty="0"/>
          </a:p>
        </p:txBody>
      </p:sp>
      <p:sp>
        <p:nvSpPr>
          <p:cNvPr id="31" name="Text 28"/>
          <p:cNvSpPr/>
          <p:nvPr/>
        </p:nvSpPr>
        <p:spPr>
          <a:xfrm>
            <a:off x="4544568" y="5166360"/>
            <a:ext cx="3246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Approve / reject paper proposals from students.</a:t>
            </a:r>
            <a:endParaRPr lang="en-US" sz="1800" dirty="0"/>
          </a:p>
        </p:txBody>
      </p:sp>
      <p:sp>
        <p:nvSpPr>
          <p:cNvPr id="32" name="Shape 29"/>
          <p:cNvSpPr/>
          <p:nvPr/>
        </p:nvSpPr>
        <p:spPr>
          <a:xfrm>
            <a:off x="8138160" y="4297680"/>
            <a:ext cx="361188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33" name="Shape 30"/>
          <p:cNvSpPr/>
          <p:nvPr/>
        </p:nvSpPr>
        <p:spPr>
          <a:xfrm>
            <a:off x="8339328" y="4498848"/>
            <a:ext cx="502920" cy="502920"/>
          </a:xfrm>
          <a:prstGeom prst="ellipse">
            <a:avLst/>
          </a:prstGeom>
          <a:solidFill>
            <a:srgbClr val="00CA72"/>
          </a:solidFill>
          <a:ln/>
        </p:spPr>
      </p:sp>
      <p:sp>
        <p:nvSpPr>
          <p:cNvPr id="34" name="Text 31"/>
          <p:cNvSpPr/>
          <p:nvPr/>
        </p:nvSpPr>
        <p:spPr>
          <a:xfrm>
            <a:off x="8339328" y="44988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2200" dirty="0"/>
          </a:p>
        </p:txBody>
      </p:sp>
      <p:sp>
        <p:nvSpPr>
          <p:cNvPr id="35" name="Text 32"/>
          <p:cNvSpPr/>
          <p:nvPr/>
        </p:nvSpPr>
        <p:spPr>
          <a:xfrm>
            <a:off x="9006840" y="4544568"/>
            <a:ext cx="25420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Friday</a:t>
            </a:r>
            <a:endParaRPr lang="en-US" sz="2200" dirty="0"/>
          </a:p>
        </p:txBody>
      </p:sp>
      <p:sp>
        <p:nvSpPr>
          <p:cNvPr id="36" name="Text 33"/>
          <p:cNvSpPr/>
          <p:nvPr/>
        </p:nvSpPr>
        <p:spPr>
          <a:xfrm>
            <a:off x="8339328" y="5166360"/>
            <a:ext cx="3246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Read check-ins + wellbeing; touch base with anyone low.</a:t>
            </a:r>
            <a:endParaRPr lang="en-US" sz="1800" dirty="0"/>
          </a:p>
        </p:txBody>
      </p:sp>
      <p:sp>
        <p:nvSpPr>
          <p:cNvPr id="37" name="Shape 34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 · for supervisors</a:t>
            </a:r>
            <a:endParaRPr lang="en-US" sz="1300" dirty="0"/>
          </a:p>
        </p:txBody>
      </p:sp>
      <p:sp>
        <p:nvSpPr>
          <p:cNvPr id="39" name="Text 36"/>
          <p:cNvSpPr/>
          <p:nvPr/>
        </p:nvSpPr>
        <p:spPr>
          <a:xfrm>
            <a:off x="9814255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 / 19</a:t>
            </a:r>
            <a:endParaRPr lang="en-US" sz="13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59E0B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667512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530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F59E0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TEAM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261872" y="749808"/>
            <a:ext cx="1038118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day · as a team advisor</a:t>
            </a:r>
            <a:endParaRPr lang="en-US" sz="4000" dirty="0"/>
          </a:p>
        </p:txBody>
      </p:sp>
      <p:sp>
        <p:nvSpPr>
          <p:cNvPr id="6" name="Text 3"/>
          <p:cNvSpPr/>
          <p:nvPr/>
        </p:nvSpPr>
        <p:spPr>
          <a:xfrm>
            <a:off x="548640" y="1508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i="1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Read-only across the students you advise, with one write — suggestions to supervisors.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548640" y="2286000"/>
            <a:ext cx="361188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749808" y="2487168"/>
            <a:ext cx="502920" cy="502920"/>
          </a:xfrm>
          <a:prstGeom prst="ellipse">
            <a:avLst/>
          </a:prstGeom>
          <a:solidFill>
            <a:srgbClr val="FF3D8B"/>
          </a:solidFill>
          <a:ln/>
        </p:spPr>
      </p:sp>
      <p:sp>
        <p:nvSpPr>
          <p:cNvPr id="9" name="Text 6"/>
          <p:cNvSpPr/>
          <p:nvPr/>
        </p:nvSpPr>
        <p:spPr>
          <a:xfrm>
            <a:off x="749808" y="248716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1417320" y="2532888"/>
            <a:ext cx="25420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Open a student</a:t>
            </a:r>
            <a:endParaRPr lang="en-US" sz="2200" dirty="0"/>
          </a:p>
        </p:txBody>
      </p:sp>
      <p:sp>
        <p:nvSpPr>
          <p:cNvPr id="11" name="Text 8"/>
          <p:cNvSpPr/>
          <p:nvPr/>
        </p:nvSpPr>
        <p:spPr>
          <a:xfrm>
            <a:off x="749808" y="3154680"/>
            <a:ext cx="3246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Only the students you advise show up — pick one.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4343400" y="2286000"/>
            <a:ext cx="361188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544568" y="2487168"/>
            <a:ext cx="502920" cy="502920"/>
          </a:xfrm>
          <a:prstGeom prst="ellipse">
            <a:avLst/>
          </a:prstGeom>
          <a:solidFill>
            <a:srgbClr val="E2445C"/>
          </a:solidFill>
          <a:ln/>
        </p:spPr>
      </p:sp>
      <p:sp>
        <p:nvSpPr>
          <p:cNvPr id="14" name="Text 11"/>
          <p:cNvSpPr/>
          <p:nvPr/>
        </p:nvSpPr>
        <p:spPr>
          <a:xfrm>
            <a:off x="4544568" y="248716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2200" dirty="0"/>
          </a:p>
        </p:txBody>
      </p:sp>
      <p:sp>
        <p:nvSpPr>
          <p:cNvPr id="15" name="Text 12"/>
          <p:cNvSpPr/>
          <p:nvPr/>
        </p:nvSpPr>
        <p:spPr>
          <a:xfrm>
            <a:off x="5212080" y="2532888"/>
            <a:ext cx="25420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Catch up</a:t>
            </a:r>
            <a:endParaRPr lang="en-US" sz="2200" dirty="0"/>
          </a:p>
        </p:txBody>
      </p:sp>
      <p:sp>
        <p:nvSpPr>
          <p:cNvPr id="16" name="Text 13"/>
          <p:cNvSpPr/>
          <p:nvPr/>
        </p:nvSpPr>
        <p:spPr>
          <a:xfrm>
            <a:off x="4544568" y="3154680"/>
            <a:ext cx="3246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Activity log, recent tasks, comments, latest check-in.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8138160" y="2286000"/>
            <a:ext cx="361188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8339328" y="2487168"/>
            <a:ext cx="502920" cy="502920"/>
          </a:xfrm>
          <a:prstGeom prst="ellipse">
            <a:avLst/>
          </a:prstGeom>
          <a:solidFill>
            <a:srgbClr val="00D1C1"/>
          </a:solidFill>
          <a:ln/>
        </p:spPr>
      </p:sp>
      <p:sp>
        <p:nvSpPr>
          <p:cNvPr id="19" name="Text 16"/>
          <p:cNvSpPr/>
          <p:nvPr/>
        </p:nvSpPr>
        <p:spPr>
          <a:xfrm>
            <a:off x="8339328" y="248716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2200" dirty="0"/>
          </a:p>
        </p:txBody>
      </p:sp>
      <p:sp>
        <p:nvSpPr>
          <p:cNvPr id="20" name="Text 17"/>
          <p:cNvSpPr/>
          <p:nvPr/>
        </p:nvSpPr>
        <p:spPr>
          <a:xfrm>
            <a:off x="9006840" y="2532888"/>
            <a:ext cx="25420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Meetings</a:t>
            </a:r>
            <a:endParaRPr lang="en-US" sz="2200" dirty="0"/>
          </a:p>
        </p:txBody>
      </p:sp>
      <p:sp>
        <p:nvSpPr>
          <p:cNvPr id="21" name="Text 18"/>
          <p:cNvSpPr/>
          <p:nvPr/>
        </p:nvSpPr>
        <p:spPr>
          <a:xfrm>
            <a:off x="8339328" y="3154680"/>
            <a:ext cx="3246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Read the team's 1:1 notes and agenda items.</a:t>
            </a:r>
            <a:endParaRPr lang="en-US" sz="1800" dirty="0"/>
          </a:p>
        </p:txBody>
      </p:sp>
      <p:sp>
        <p:nvSpPr>
          <p:cNvPr id="22" name="Shape 19"/>
          <p:cNvSpPr/>
          <p:nvPr/>
        </p:nvSpPr>
        <p:spPr>
          <a:xfrm>
            <a:off x="548640" y="4297680"/>
            <a:ext cx="361188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23" name="Shape 20"/>
          <p:cNvSpPr/>
          <p:nvPr/>
        </p:nvSpPr>
        <p:spPr>
          <a:xfrm>
            <a:off x="749808" y="4498848"/>
            <a:ext cx="502920" cy="502920"/>
          </a:xfrm>
          <a:prstGeom prst="ellipse">
            <a:avLst/>
          </a:prstGeom>
          <a:solidFill>
            <a:srgbClr val="FF3D8B"/>
          </a:solidFill>
          <a:ln/>
        </p:spPr>
      </p:sp>
      <p:sp>
        <p:nvSpPr>
          <p:cNvPr id="24" name="Text 21"/>
          <p:cNvSpPr/>
          <p:nvPr/>
        </p:nvSpPr>
        <p:spPr>
          <a:xfrm>
            <a:off x="749808" y="44988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2200" dirty="0"/>
          </a:p>
        </p:txBody>
      </p:sp>
      <p:sp>
        <p:nvSpPr>
          <p:cNvPr id="25" name="Text 22"/>
          <p:cNvSpPr/>
          <p:nvPr/>
        </p:nvSpPr>
        <p:spPr>
          <a:xfrm>
            <a:off x="1417320" y="4544568"/>
            <a:ext cx="25420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Wellbeing</a:t>
            </a:r>
            <a:endParaRPr lang="en-US" sz="2200" dirty="0"/>
          </a:p>
        </p:txBody>
      </p:sp>
      <p:sp>
        <p:nvSpPr>
          <p:cNvPr id="26" name="Text 23"/>
          <p:cNvSpPr/>
          <p:nvPr/>
        </p:nvSpPr>
        <p:spPr>
          <a:xfrm>
            <a:off x="749808" y="5166360"/>
            <a:ext cx="3246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 see 1–5 wellbeing scores — flagged trends matter.</a:t>
            </a:r>
            <a:endParaRPr lang="en-US" sz="1800" dirty="0"/>
          </a:p>
        </p:txBody>
      </p:sp>
      <p:sp>
        <p:nvSpPr>
          <p:cNvPr id="27" name="Shape 24"/>
          <p:cNvSpPr/>
          <p:nvPr/>
        </p:nvSpPr>
        <p:spPr>
          <a:xfrm>
            <a:off x="4343400" y="4297680"/>
            <a:ext cx="361188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28" name="Shape 25"/>
          <p:cNvSpPr/>
          <p:nvPr/>
        </p:nvSpPr>
        <p:spPr>
          <a:xfrm>
            <a:off x="4544568" y="4498848"/>
            <a:ext cx="502920" cy="50292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29" name="Text 26"/>
          <p:cNvSpPr/>
          <p:nvPr/>
        </p:nvSpPr>
        <p:spPr>
          <a:xfrm>
            <a:off x="4544568" y="44988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2200" dirty="0"/>
          </a:p>
        </p:txBody>
      </p:sp>
      <p:sp>
        <p:nvSpPr>
          <p:cNvPr id="30" name="Text 27"/>
          <p:cNvSpPr/>
          <p:nvPr/>
        </p:nvSpPr>
        <p:spPr>
          <a:xfrm>
            <a:off x="5212080" y="4544568"/>
            <a:ext cx="25420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Suggest</a:t>
            </a:r>
            <a:endParaRPr lang="en-US" sz="2200" dirty="0"/>
          </a:p>
        </p:txBody>
      </p:sp>
      <p:sp>
        <p:nvSpPr>
          <p:cNvPr id="31" name="Text 28"/>
          <p:cNvSpPr/>
          <p:nvPr/>
        </p:nvSpPr>
        <p:spPr>
          <a:xfrm>
            <a:off x="4544568" y="5166360"/>
            <a:ext cx="3246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Post in Advisor Suggestions, tagged with the student(s).</a:t>
            </a:r>
            <a:endParaRPr lang="en-US" sz="1800" dirty="0"/>
          </a:p>
        </p:txBody>
      </p:sp>
      <p:sp>
        <p:nvSpPr>
          <p:cNvPr id="32" name="Shape 29"/>
          <p:cNvSpPr/>
          <p:nvPr/>
        </p:nvSpPr>
        <p:spPr>
          <a:xfrm>
            <a:off x="8138160" y="4297680"/>
            <a:ext cx="361188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33" name="Shape 30"/>
          <p:cNvSpPr/>
          <p:nvPr/>
        </p:nvSpPr>
        <p:spPr>
          <a:xfrm>
            <a:off x="8339328" y="4498848"/>
            <a:ext cx="502920" cy="502920"/>
          </a:xfrm>
          <a:prstGeom prst="ellipse">
            <a:avLst/>
          </a:prstGeom>
          <a:solidFill>
            <a:srgbClr val="6F4CFF"/>
          </a:solidFill>
          <a:ln/>
        </p:spPr>
      </p:sp>
      <p:sp>
        <p:nvSpPr>
          <p:cNvPr id="34" name="Text 31"/>
          <p:cNvSpPr/>
          <p:nvPr/>
        </p:nvSpPr>
        <p:spPr>
          <a:xfrm>
            <a:off x="8339328" y="44988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2200" dirty="0"/>
          </a:p>
        </p:txBody>
      </p:sp>
      <p:sp>
        <p:nvSpPr>
          <p:cNvPr id="35" name="Text 32"/>
          <p:cNvSpPr/>
          <p:nvPr/>
        </p:nvSpPr>
        <p:spPr>
          <a:xfrm>
            <a:off x="9006840" y="4544568"/>
            <a:ext cx="25420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Annual review</a:t>
            </a:r>
            <a:endParaRPr lang="en-US" sz="2200" dirty="0"/>
          </a:p>
        </p:txBody>
      </p:sp>
      <p:sp>
        <p:nvSpPr>
          <p:cNvPr id="36" name="Text 33"/>
          <p:cNvSpPr/>
          <p:nvPr/>
        </p:nvSpPr>
        <p:spPr>
          <a:xfrm>
            <a:off x="8339328" y="5166360"/>
            <a:ext cx="3246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Open the Review page when asked for formal input.</a:t>
            </a:r>
            <a:endParaRPr lang="en-US" sz="1800" dirty="0"/>
          </a:p>
        </p:txBody>
      </p:sp>
      <p:sp>
        <p:nvSpPr>
          <p:cNvPr id="37" name="Shape 34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 · for supervisors</a:t>
            </a:r>
            <a:endParaRPr lang="en-US" sz="1300" dirty="0"/>
          </a:p>
        </p:txBody>
      </p:sp>
      <p:sp>
        <p:nvSpPr>
          <p:cNvPr id="39" name="Text 36"/>
          <p:cNvSpPr/>
          <p:nvPr/>
        </p:nvSpPr>
        <p:spPr>
          <a:xfrm>
            <a:off x="9814255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 / 19</a:t>
            </a:r>
            <a:endParaRPr lang="en-US" sz="13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2196F3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667512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530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2196F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TIPS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261872" y="749808"/>
            <a:ext cx="1038118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Tips &amp; if something breaks</a:t>
            </a:r>
            <a:endParaRPr lang="en-US" sz="4000" dirty="0"/>
          </a:p>
        </p:txBody>
      </p:sp>
      <p:sp>
        <p:nvSpPr>
          <p:cNvPr id="6" name="Shape 3"/>
          <p:cNvSpPr/>
          <p:nvPr/>
        </p:nvSpPr>
        <p:spPr>
          <a:xfrm>
            <a:off x="548640" y="1828800"/>
            <a:ext cx="5486400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48640" y="1828800"/>
            <a:ext cx="73152" cy="3931920"/>
          </a:xfrm>
          <a:prstGeom prst="rect">
            <a:avLst/>
          </a:prstGeom>
          <a:solidFill>
            <a:srgbClr val="2196F3"/>
          </a:solidFill>
          <a:ln/>
        </p:spPr>
      </p:sp>
      <p:sp>
        <p:nvSpPr>
          <p:cNvPr id="8" name="Text 5"/>
          <p:cNvSpPr/>
          <p:nvPr/>
        </p:nvSpPr>
        <p:spPr>
          <a:xfrm>
            <a:off x="749808" y="1993392"/>
            <a:ext cx="5166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Tips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777240" y="2697480"/>
            <a:ext cx="50749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Use the ✨ Catch-up before a 1:1 — paste it into the meeting notes.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Filter by group when you discuss a specific work-package.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Comment on a task for nudges; chat for back-and-forth.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Run the admin Backfill missing team channels once after this release.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6400800" y="1828800"/>
            <a:ext cx="5242255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400800" y="1828800"/>
            <a:ext cx="73152" cy="3931920"/>
          </a:xfrm>
          <a:prstGeom prst="rect">
            <a:avLst/>
          </a:prstGeom>
          <a:solidFill>
            <a:srgbClr val="E2445C"/>
          </a:solidFill>
          <a:ln/>
        </p:spPr>
      </p:sp>
      <p:sp>
        <p:nvSpPr>
          <p:cNvPr id="12" name="Text 9"/>
          <p:cNvSpPr/>
          <p:nvPr/>
        </p:nvSpPr>
        <p:spPr>
          <a:xfrm>
            <a:off x="6601968" y="1993392"/>
            <a:ext cx="49222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Troubleshooting</a:t>
            </a:r>
            <a:endParaRPr lang="en-US" sz="2200" dirty="0"/>
          </a:p>
        </p:txBody>
      </p:sp>
      <p:sp>
        <p:nvSpPr>
          <p:cNvPr id="13" name="Text 10"/>
          <p:cNvSpPr/>
          <p:nvPr/>
        </p:nvSpPr>
        <p:spPr>
          <a:xfrm>
            <a:off x="6629400" y="2697480"/>
            <a:ext cx="4876495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Calendar sync to iCal: use https://www.google.com/calendar/syncselect to tick the shared calendar.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If push to Google fails → ‘Sync calendar’ from the student profile retries ACL grants.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Stale data → reload (polls reconcile within 8s).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Bug? Feedback module, attach a screenshot.</a:t>
            </a:r>
            <a:endParaRPr lang="en-US" sz="1800" dirty="0"/>
          </a:p>
        </p:txBody>
      </p:sp>
      <p:sp>
        <p:nvSpPr>
          <p:cNvPr id="14" name="Shape 11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 · for supervisors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9814255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 / 19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PhDapp — for supervisors</dc:title>
  <dc:subject>PptxGenJS Presentation</dc:subject>
  <dc:creator>PhDapp</dc:creator>
  <cp:lastModifiedBy>PhDapp</cp:lastModifiedBy>
  <cp:revision>1</cp:revision>
  <dcterms:created xsi:type="dcterms:W3CDTF">2026-05-25T06:39:23Z</dcterms:created>
  <dcterms:modified xsi:type="dcterms:W3CDTF">2026-05-25T06:39:23Z</dcterms:modified>
</cp:coreProperties>
</file>