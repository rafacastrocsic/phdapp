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26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  <Relationship Id="rId26" Type="http://schemas.openxmlformats.org/officeDocument/2006/relationships/slide" Target="slides/slide20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workspace,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whole supervision.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5166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Students, tasks, calendar, chat — and everything that connects them.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QUICK TOUR · FOR SUPERVISORS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F4C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PhDapp is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workspace covering everything you do day-to-day with PhD students.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194560"/>
            <a:ext cx="73152" cy="178308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2359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9808" y="30632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Per-student profile with team, thesis, publications, reading.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83280" y="219456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2194560"/>
            <a:ext cx="73152" cy="178308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3" name="Text 10"/>
          <p:cNvSpPr/>
          <p:nvPr/>
        </p:nvSpPr>
        <p:spPr>
          <a:xfrm>
            <a:off x="3584448" y="2359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584448" y="30632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/ List / Gantt with dependencies, groups, sub-tasks.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17920" y="219456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2194560"/>
            <a:ext cx="73152" cy="1783080"/>
          </a:xfrm>
          <a:prstGeom prst="rect">
            <a:avLst/>
          </a:prstGeom>
          <a:solidFill>
            <a:srgbClr val="00D1C1"/>
          </a:solidFill>
          <a:ln/>
        </p:spPr>
      </p:sp>
      <p:sp>
        <p:nvSpPr>
          <p:cNvPr id="17" name="Text 14"/>
          <p:cNvSpPr/>
          <p:nvPr/>
        </p:nvSpPr>
        <p:spPr>
          <a:xfrm>
            <a:off x="6419088" y="2359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19088" y="30632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per-student Google calendar + structured 1:1 meetings.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052560" y="219456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052560" y="2194560"/>
            <a:ext cx="73152" cy="1783080"/>
          </a:xfrm>
          <a:prstGeom prst="rect">
            <a:avLst/>
          </a:prstGeom>
          <a:solidFill>
            <a:srgbClr val="00CA72"/>
          </a:solidFill>
          <a:ln/>
        </p:spPr>
      </p:sp>
      <p:sp>
        <p:nvSpPr>
          <p:cNvPr id="21" name="Text 18"/>
          <p:cNvSpPr/>
          <p:nvPr/>
        </p:nvSpPr>
        <p:spPr>
          <a:xfrm>
            <a:off x="9253728" y="2359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253728" y="30632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per student / co-supervisors; auto Team channel.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25196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" y="4251960"/>
            <a:ext cx="73152" cy="178308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" y="44165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49808" y="51206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list with student-proposal approval flow.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3383280" y="425196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383280" y="4251960"/>
            <a:ext cx="73152" cy="178308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29" name="Text 26"/>
          <p:cNvSpPr/>
          <p:nvPr/>
        </p:nvSpPr>
        <p:spPr>
          <a:xfrm>
            <a:off x="3584448" y="44165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Check-ins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3584448" y="51206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reflection + private wellbeing score.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6217920" y="425196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217920" y="4251960"/>
            <a:ext cx="73152" cy="1783080"/>
          </a:xfrm>
          <a:prstGeom prst="rect">
            <a:avLst/>
          </a:prstGeom>
          <a:solidFill>
            <a:srgbClr val="E2445C"/>
          </a:solidFill>
          <a:ln/>
        </p:spPr>
      </p:sp>
      <p:sp>
        <p:nvSpPr>
          <p:cNvPr id="33" name="Text 30"/>
          <p:cNvSpPr/>
          <p:nvPr/>
        </p:nvSpPr>
        <p:spPr>
          <a:xfrm>
            <a:off x="6419088" y="44165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review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419088" y="51206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Printable per-student summary, ready as PDF.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9052560" y="425196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9052560" y="4251960"/>
            <a:ext cx="73152" cy="1783080"/>
          </a:xfrm>
          <a:prstGeom prst="rect">
            <a:avLst/>
          </a:prstGeom>
          <a:solidFill>
            <a:srgbClr val="E2445C"/>
          </a:solidFill>
          <a:ln/>
        </p:spPr>
      </p:sp>
      <p:sp>
        <p:nvSpPr>
          <p:cNvPr id="37" name="Text 34"/>
          <p:cNvSpPr/>
          <p:nvPr/>
        </p:nvSpPr>
        <p:spPr>
          <a:xfrm>
            <a:off x="9253728" y="44165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log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9253728" y="51206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of who did what, when.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20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F4C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&amp; access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student, different views. Roles set what each member can see and do.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874520"/>
            <a:ext cx="73152" cy="178308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20391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9808" y="27432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owner of a student. Full read + write.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43400" y="18745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874520"/>
            <a:ext cx="73152" cy="178308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3" name="Text 10"/>
          <p:cNvSpPr/>
          <p:nvPr/>
        </p:nvSpPr>
        <p:spPr>
          <a:xfrm>
            <a:off x="4544568" y="20391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Co-supervisor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544568" y="27432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writes. Sits in the team chat. Co-decides.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138160" y="18745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138160" y="1874520"/>
            <a:ext cx="73152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8339328" y="20391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advisor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339328" y="27432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peer, read-only — including private notes and wellbeing. Posts to the Advisor Suggestions thread.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38862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3886200"/>
            <a:ext cx="73152" cy="1783080"/>
          </a:xfrm>
          <a:prstGeom prst="rect">
            <a:avLst/>
          </a:prstGeom>
          <a:solidFill>
            <a:srgbClr val="00D1C1"/>
          </a:solidFill>
          <a:ln/>
        </p:spPr>
      </p:sp>
      <p:sp>
        <p:nvSpPr>
          <p:cNvPr id="21" name="Text 18"/>
          <p:cNvSpPr/>
          <p:nvPr/>
        </p:nvSpPr>
        <p:spPr>
          <a:xfrm>
            <a:off x="749808" y="40507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advisor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49808" y="47548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Read-only, no private material; can comment on tasks.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343400" y="38862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343400" y="3886200"/>
            <a:ext cx="73152" cy="17830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5" name="Text 22"/>
          <p:cNvSpPr/>
          <p:nvPr/>
        </p:nvSpPr>
        <p:spPr>
          <a:xfrm>
            <a:off x="4544568" y="40507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Committee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544568" y="47548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access during reviews. No private material.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8138160" y="38862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138160" y="3886200"/>
            <a:ext cx="73152" cy="1783080"/>
          </a:xfrm>
          <a:prstGeom prst="rect">
            <a:avLst/>
          </a:prstGeom>
          <a:solidFill>
            <a:srgbClr val="E2445C"/>
          </a:solidFill>
          <a:ln/>
        </p:spPr>
      </p:sp>
      <p:sp>
        <p:nvSpPr>
          <p:cNvPr id="29" name="Text 26"/>
          <p:cNvSpPr/>
          <p:nvPr/>
        </p:nvSpPr>
        <p:spPr>
          <a:xfrm>
            <a:off x="8339328" y="40507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8339328" y="47548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App-wide owner. Adds users, manages settings, runs maintenance.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20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3D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3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students &amp; teams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student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or supervisor adds them (name, email, year, status).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auto Team channel is created for the whole team.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→ Share Drive + Share calendar set up shared resources (auto-shared with supervisors + team advisors; external advisors and committee excluded).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can backfill missing team channels for older students.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team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co-supervisors, team advisors, external advisors, committee members.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roles or remove members (with a confirm prompt).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role is configured per-student — the same person can supervise A and team-advise B.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20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3D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3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profile · external links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user — supervisor, advisor, committee — can attach professional profile links. They show as small icons beside your name everywhere you appear in the team.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4864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331720"/>
            <a:ext cx="73152" cy="310896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249631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to edit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2971800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Settings → My profile (your own).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→ user card (any user, admin only).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page → click your card → ProfileEditor.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edit theirs from the student profile (Edit).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0" y="2331720"/>
            <a:ext cx="524225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331720"/>
            <a:ext cx="73152" cy="310896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3" name="Text 10"/>
          <p:cNvSpPr/>
          <p:nvPr/>
        </p:nvSpPr>
        <p:spPr>
          <a:xfrm>
            <a:off x="6601968" y="249631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Supported fields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629400" y="2971800"/>
            <a:ext cx="48764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— full URL or just the handle.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ORCID — the 0000-0000-0000-0000 id or full URL.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Scholar — citations URL or just the user id.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website (students only).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Alternate emails (info only — login stays Google).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20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3D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3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profile · the central page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page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Header: name, alias, status, profile icon-links (LinkedIn · ORCID · Scholar · Website).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actions: Tasks · Calendar · Drive · Chat · Annual review · ✨ Catch-up.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Cards: thesis, publications, supervision team, recent activity, upcoming meetings.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Edits (and Delete) gated to supervisors / admin.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 Catch-up summary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click → a plain-text digest for any student.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/ overdue / blocked tasks · upcoming + recent events · thesis/pubs status · latest check-in.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button — drop into notes or a 1:1 email.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Read-only; respects privacy (wellbeing only for supervisor-private viewers).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20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7A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7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· oversee a student or a portfolio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Board / List / Gantt as the student — filtered by student, group, priority, category.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36118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423160"/>
            <a:ext cx="73152" cy="402336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2587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9808" y="3291840"/>
            <a:ext cx="329184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to change status.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9808" y="411480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Banner on new / updated cards.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to Done, or confirm requests.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 student, priority, group.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43400" y="2423160"/>
            <a:ext cx="36118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2423160"/>
            <a:ext cx="73152" cy="402336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4" name="Text 11"/>
          <p:cNvSpPr/>
          <p:nvPr/>
        </p:nvSpPr>
        <p:spPr>
          <a:xfrm>
            <a:off x="4544568" y="2587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44568" y="3291840"/>
            <a:ext cx="329184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→ Task → Sub-task table.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44568" y="411480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Coloured bar for grouped rows.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 N badge: events linked to the task.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Multi-select to bulk-group / add.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38160" y="2423160"/>
            <a:ext cx="36118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38160" y="2423160"/>
            <a:ext cx="73152" cy="402336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9" name="Text 16"/>
          <p:cNvSpPr/>
          <p:nvPr/>
        </p:nvSpPr>
        <p:spPr>
          <a:xfrm>
            <a:off x="8339328" y="2587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Gantt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339328" y="3291840"/>
            <a:ext cx="329184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Dependency-ordered timeline.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339328" y="411480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a task to see sub-tasks.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markers on each sub-task due.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Dependents indented under parent.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20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7A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7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· approval, dependencies &amp; groups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194560"/>
            <a:ext cx="73152" cy="356616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3591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 approval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32461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request, or drag to Done.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get bell + badge + email.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in Done, or comment back.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343400" y="219456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194560"/>
            <a:ext cx="73152" cy="3566160"/>
          </a:xfrm>
          <a:prstGeom prst="rect">
            <a:avLst/>
          </a:prstGeom>
          <a:solidFill>
            <a:srgbClr val="E2445C"/>
          </a:solidFill>
          <a:ln/>
        </p:spPr>
      </p:sp>
      <p:sp>
        <p:nvSpPr>
          <p:cNvPr id="12" name="Text 9"/>
          <p:cNvSpPr/>
          <p:nvPr/>
        </p:nvSpPr>
        <p:spPr>
          <a:xfrm>
            <a:off x="4544568" y="23591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72000" y="3063240"/>
            <a:ext cx="32461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parents; child auto-Blocks.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parents Done → child auto-To-do.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Cycles, cross-student rejected.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138160" y="219456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38160" y="2194560"/>
            <a:ext cx="73152" cy="356616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6" name="Text 13"/>
          <p:cNvSpPr/>
          <p:nvPr/>
        </p:nvSpPr>
        <p:spPr>
          <a:xfrm>
            <a:off x="8339328" y="23591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&amp; filters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366760" y="3063240"/>
            <a:ext cx="32461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from List multi-select (per-student).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board by student or group.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are always student-scoped (no team / general).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20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0D1C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1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&amp; availability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00D1C1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&amp; sync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to Google Calendar (student's shared, or General).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Recurring events (daily/weekly/monthly) pushed natively.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AND sub-task deadlines auto-sync as all-day Google entries.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Week/Day view covers all 24h + all-day strip above hours.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→ Maintenance → Calendar cleanup repairs legacy disparities. 🎉 Sevilla public holidays (incl. Corpus Christi) marked across Month/Week/Day/Year.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00D1C1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meetings &amp; availability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an event as a 1:1 meeting → agenda + notes + action items.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items → tasks: one-click create tasks for the meeting's student.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Anyone marks ⊘ availability or 🏠 Remote work (green) via My availability — optional time range and public reason. Timed blocks draw as striped bands in Week/Day. Click any chip → trash button on your own rows to delete inline.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20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0CA7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C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· channels for the team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00CA72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Team · ‹student› channel includes the whole supervision team + the student.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Spin up co-supervisor or 1:1 channels as needed.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channel: name, description, colour and members (member changes confirmed).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 a channel removes all messages (no undo).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00CA72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features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to a message; quoted snippet in the bubble.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Drag-and-drop files; Ctrl/⌘+V paste images.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ticks (sent/delivered/seen).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notification sound + volume (⋮ → Notification sound). 📊 Polls — Q + 2-10 options, single/multi-vote, optional close date; vote tallies + voter avatars visible. Author/admin can Edit/Close/Delete; question + options lock after first vote. URLs auto-link.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F4C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Reading, thesis &amp; publications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approval flow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propose papers with a ‘Why relevant?’ note.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see them in the Pending Approval card.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(with optional comment) or reject (with reason) — the student is notified.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items appear in the main queue with status tracking.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 &amp; publications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Chapters (planned → drafting → in review → revising → done) and pubs (in prep → published).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picker per item.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Feeds the Annual review export (print to PDF).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7A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7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check-ins &amp; wellbeing (private)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Per-week: did / blockers / next.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in one card on the student's profile, with history.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no-check-in week is highlighted so you don't miss it.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Wellbeing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1–5 score, optional, supervisor-private.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Aggregated into the digest only for supervisors/admin/team advisors.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visible to other students, external advisors, or committee.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20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244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24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log &amp; history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E2445C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gets logged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/ event / reading / availability / student-profile changes.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meaningful changes — auto-save bursts coalesce into one entry.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Summaries are human-readable: ‘Title — moved to In progress, due May 20’.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task has its own History panel from the detail dialog.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E2445C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see only their own actions.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Supervisors see everything for their students + co-supervisors' actions.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Admins see everything; can export or purge the log.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20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workspace, advisors &amp; workload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194560"/>
            <a:ext cx="73152" cy="3566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3591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workspace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32461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 shared by supervisors + admin.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shared team Drive folder.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from students + advisors.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343400" y="219456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194560"/>
            <a:ext cx="73152" cy="356616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2" name="Text 9"/>
          <p:cNvSpPr/>
          <p:nvPr/>
        </p:nvSpPr>
        <p:spPr>
          <a:xfrm>
            <a:off x="4544568" y="23591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 suggestions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72000" y="3063240"/>
            <a:ext cx="32461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Advisors post tagged suggestions.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Violet bubble on Team sidebar.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Supervisors read; advisors author.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138160" y="219456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38160" y="2194560"/>
            <a:ext cx="73152" cy="3566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8339328" y="23591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Workload table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366760" y="3063240"/>
            <a:ext cx="32461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Per-supervisor: students, open, overdue.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Per-student: status, open, overdue.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Sorted by load — spot overloads.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20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3D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3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 &amp; email digest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In-app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🔔 bell: task/event/reading changes; co-supervisor away periods; student completion requests.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 badges per module; coloured ring/banner on new/updated items.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 title + favicon + sound when chat is unread.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comment / change a student's task meaningfully, they're notified directly (bell + email).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00CA72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email digest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 morning per-supervisor summary (when Resend is configured).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Counts of overdue tasks, low-wellbeing check-ins, new readings.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Opt-out in Settings → Notifications.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20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F4C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to admin · Annual review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(threaded)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 / Suggestion / Other + optional photo.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Open / Planned / In progress / Done / Declined.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Back-and-forth thread — submitter ↔ admin can reply each other.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 badge + email on every new reply in your thread.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Collapse old entries; remembered across visits.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E2445C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review export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Print-styled page at /students/[id]/review?from=&amp;to=.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 is a student-details block; then thesis, publications, completed/overdue tasks, meetings, check-in text.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Hard-excludes private supervisor notes and wellbeing scores.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Cmd+P → Save as PDF for a clean document.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20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F4C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day · as a supervisor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moments from a normal supervision day, end-to-end.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2487168"/>
            <a:ext cx="502920" cy="50292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17320" y="253288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49808" y="3154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scan — counts across all students; bell first.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43400" y="22860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2487168"/>
            <a:ext cx="502920" cy="50292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4" name="Text 11"/>
          <p:cNvSpPr/>
          <p:nvPr/>
        </p:nvSpPr>
        <p:spPr>
          <a:xfrm>
            <a:off x="454456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212080" y="253288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44568" y="3154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completion requests; reassign or re-prioritise.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38160" y="22860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9328" y="2487168"/>
            <a:ext cx="502920" cy="502920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19" name="Text 16"/>
          <p:cNvSpPr/>
          <p:nvPr/>
        </p:nvSpPr>
        <p:spPr>
          <a:xfrm>
            <a:off x="833932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006840" y="253288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prep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339328" y="3154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student → ✨ Catch-up → paste into agenda.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8640" y="429768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49808" y="4498848"/>
            <a:ext cx="502920" cy="502920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417320" y="454456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49808" y="5166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event as 1:1 → notes + actions → one-click tasks.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4343400" y="429768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44568" y="4498848"/>
            <a:ext cx="502920" cy="50292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29" name="Text 26"/>
          <p:cNvSpPr/>
          <p:nvPr/>
        </p:nvSpPr>
        <p:spPr>
          <a:xfrm>
            <a:off x="4544568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212080" y="454456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4544568" y="5166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/ reject paper proposals from students.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8138160" y="429768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339328" y="4498848"/>
            <a:ext cx="502920" cy="502920"/>
          </a:xfrm>
          <a:prstGeom prst="ellipse">
            <a:avLst/>
          </a:prstGeom>
          <a:solidFill>
            <a:srgbClr val="00CA72"/>
          </a:solidFill>
          <a:ln/>
        </p:spPr>
      </p:sp>
      <p:sp>
        <p:nvSpPr>
          <p:cNvPr id="34" name="Text 31"/>
          <p:cNvSpPr/>
          <p:nvPr/>
        </p:nvSpPr>
        <p:spPr>
          <a:xfrm>
            <a:off x="8339328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9006840" y="454456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8339328" y="5166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check-ins + wellbeing; touch base with anyone low.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20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day · as a team advisor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across the students you advise, with one write — suggestions to supervisors.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2487168"/>
            <a:ext cx="502920" cy="502920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17320" y="253288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 student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49808" y="3154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the students you advise show up — pick one.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43400" y="22860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2487168"/>
            <a:ext cx="502920" cy="502920"/>
          </a:xfrm>
          <a:prstGeom prst="ellipse">
            <a:avLst/>
          </a:prstGeom>
          <a:solidFill>
            <a:srgbClr val="E2445C"/>
          </a:solidFill>
          <a:ln/>
        </p:spPr>
      </p:sp>
      <p:sp>
        <p:nvSpPr>
          <p:cNvPr id="14" name="Text 11"/>
          <p:cNvSpPr/>
          <p:nvPr/>
        </p:nvSpPr>
        <p:spPr>
          <a:xfrm>
            <a:off x="454456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212080" y="253288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Catch up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44568" y="3154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log, recent tasks, comments, latest check-in.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38160" y="228600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39328" y="2487168"/>
            <a:ext cx="502920" cy="502920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9" name="Text 16"/>
          <p:cNvSpPr/>
          <p:nvPr/>
        </p:nvSpPr>
        <p:spPr>
          <a:xfrm>
            <a:off x="833932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006840" y="253288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339328" y="3154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team's 1:1 notes and agenda items.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8640" y="429768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49808" y="4498848"/>
            <a:ext cx="502920" cy="502920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417320" y="454456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Wellbeing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49808" y="5166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see 1–5 wellbeing scores — flagged trends matter.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4343400" y="429768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44568" y="449884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6"/>
          <p:cNvSpPr/>
          <p:nvPr/>
        </p:nvSpPr>
        <p:spPr>
          <a:xfrm>
            <a:off x="4544568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212080" y="454456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4544568" y="5166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in Advisor Suggestions, tagged with the student(s).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8138160" y="429768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339328" y="4498848"/>
            <a:ext cx="502920" cy="50292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34" name="Text 31"/>
          <p:cNvSpPr/>
          <p:nvPr/>
        </p:nvSpPr>
        <p:spPr>
          <a:xfrm>
            <a:off x="8339328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9006840" y="454456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review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8339328" y="5166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Review page when asked for formal input.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20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196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Tips &amp; if something breaks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✨ Catch-up before a 1:1 — paste it into the meeting notes.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 group when you discuss a specific work-package.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 a task for nudges; chat for back-and-forth.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admin Backfill missing team channels once after this release.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E2445C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sync to iCal: use https://www.google.com/calendar/syncselect to tick the shared calendar.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push to Google fails → ‘Sync calendar’ from the student profile retries ACL grants.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Stale data → reload (polls reconcile within 8s).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Bug? Feedback module, attach a screenshot.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20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F4CFF"/>
          </a:solidFill>
          <a:ln/>
        </p:spPr>
      </p:sp>
      <p:sp>
        <p:nvSpPr>
          <p:cNvPr id="3" name="Icon glyph"/>
          <p:cNvSpPr/>
          <p:nvPr/>
        </p:nvSpPr>
        <p:spPr>
          <a:xfrm>
            <a:off x="548640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</a:rPr>
              <a:t>💡</a:t>
            </a:r>
          </a:p>
        </p:txBody>
      </p:sp>
      <p:sp>
        <p:nvSpPr>
          <p:cNvPr id="4" name="Text 1"/>
          <p:cNvSpPr/>
          <p:nvPr/>
        </p:nvSpPr>
        <p:spPr>
          <a:xfrm>
            <a:off x="1261872" y="530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61872" y="749808"/>
            <a:ext cx="1038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Discussions · persistent topic threads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933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 topic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Persistent, topic-first space for brainstorms, open questions and decisions — unlike Chat, nothing expires.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topic: a title + an opening post; you choose who can read it.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Visibility: Supervisors only, or Whole team (students included).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Optionally tag a student — a label, not an access rule.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242255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28800"/>
            <a:ext cx="73152" cy="393192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1993392"/>
            <a:ext cx="4922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 a topic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697480"/>
            <a:ext cx="4876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threaded discussion, a Links list, and an optional Drive folder — all permanent.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Email-style comments: text + images + documents (drag-and-drop, up to 25 MB).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show inline; documents as download chips; replies can carry files too.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Author/admin can pin, close, or delete a topic. New topics and comments raise a 🔔 and a violet sidebar badge.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supervisors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PhDapp — for supervisors</dc:title>
  <dc:subject>PptxGenJS Presentation</dc:subject>
  <dc:creator>PhDapp</dc:creator>
  <cp:lastModifiedBy>PhDapp</cp:lastModifiedBy>
  <cp:revision>1</cp:revision>
  <dcterms:created xsi:type="dcterms:W3CDTF">2026-05-25T06:39:23Z</dcterms:created>
  <dcterms:modified xsi:type="dcterms:W3CDTF">2026-05-25T06:39:23Z</dcterms:modified>
</cp:coreProperties>
</file>