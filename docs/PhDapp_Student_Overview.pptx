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spc="80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463040"/>
            <a:ext cx="105156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supervision hub,</a:t>
            </a:r>
            <a:endParaRPr lang="en-US" sz="6000" dirty="0"/>
          </a:p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 one place.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914400" y="516636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FFFFFF">
                    <a:alpha val="9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Tasks, calendar, chat, reading, thesis — all linked to you.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914400" y="603504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60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QUICK TOUR · FOR STUDENTS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6F4CFF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6F4C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WELCOME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is PhDapp?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548640" y="1508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single workspace for PhD-student supervision — connects everything you and your supervisors do day-to-day.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2468880"/>
            <a:ext cx="260604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2468880"/>
            <a:ext cx="73152" cy="169164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9" name="Text 6"/>
          <p:cNvSpPr/>
          <p:nvPr/>
        </p:nvSpPr>
        <p:spPr>
          <a:xfrm>
            <a:off x="749808" y="2633472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749808" y="333756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Board / List / Gantt — your work, status, deadlines.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3383280" y="2468880"/>
            <a:ext cx="260604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383280" y="2468880"/>
            <a:ext cx="73152" cy="1691640"/>
          </a:xfrm>
          <a:prstGeom prst="rect">
            <a:avLst/>
          </a:prstGeom>
          <a:solidFill>
            <a:srgbClr val="00D1C1"/>
          </a:solidFill>
          <a:ln/>
        </p:spPr>
      </p:sp>
      <p:sp>
        <p:nvSpPr>
          <p:cNvPr id="13" name="Text 10"/>
          <p:cNvSpPr/>
          <p:nvPr/>
        </p:nvSpPr>
        <p:spPr>
          <a:xfrm>
            <a:off x="3584448" y="2633472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Calendar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3584448" y="333756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Events, task deadlines, supervisors' availability.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6217920" y="2468880"/>
            <a:ext cx="260604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217920" y="2468880"/>
            <a:ext cx="73152" cy="1691640"/>
          </a:xfrm>
          <a:prstGeom prst="rect">
            <a:avLst/>
          </a:prstGeom>
          <a:solidFill>
            <a:srgbClr val="00CA72"/>
          </a:solidFill>
          <a:ln/>
        </p:spPr>
      </p:sp>
      <p:sp>
        <p:nvSpPr>
          <p:cNvPr id="17" name="Text 14"/>
          <p:cNvSpPr/>
          <p:nvPr/>
        </p:nvSpPr>
        <p:spPr>
          <a:xfrm>
            <a:off x="6419088" y="2633472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Chat</a:t>
            </a:r>
            <a:endParaRPr lang="en-US" sz="2200" dirty="0"/>
          </a:p>
        </p:txBody>
      </p:sp>
      <p:sp>
        <p:nvSpPr>
          <p:cNvPr id="18" name="Text 15"/>
          <p:cNvSpPr/>
          <p:nvPr/>
        </p:nvSpPr>
        <p:spPr>
          <a:xfrm>
            <a:off x="6419088" y="333756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Channels with your team — replies, reactions, files.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9052560" y="2468880"/>
            <a:ext cx="260604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9052560" y="2468880"/>
            <a:ext cx="73152" cy="169164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21" name="Text 18"/>
          <p:cNvSpPr/>
          <p:nvPr/>
        </p:nvSpPr>
        <p:spPr>
          <a:xfrm>
            <a:off x="9253728" y="2633472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Reading</a:t>
            </a:r>
            <a:endParaRPr lang="en-US" sz="2200" dirty="0"/>
          </a:p>
        </p:txBody>
      </p:sp>
      <p:sp>
        <p:nvSpPr>
          <p:cNvPr id="22" name="Text 19"/>
          <p:cNvSpPr/>
          <p:nvPr/>
        </p:nvSpPr>
        <p:spPr>
          <a:xfrm>
            <a:off x="9253728" y="333756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Track papers and propose new ones to read.</a:t>
            </a:r>
            <a:endParaRPr lang="en-US" sz="1800" dirty="0"/>
          </a:p>
        </p:txBody>
      </p:sp>
      <p:sp>
        <p:nvSpPr>
          <p:cNvPr id="23" name="Shape 20"/>
          <p:cNvSpPr/>
          <p:nvPr/>
        </p:nvSpPr>
        <p:spPr>
          <a:xfrm>
            <a:off x="548640" y="4434840"/>
            <a:ext cx="260604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548640" y="4434840"/>
            <a:ext cx="73152" cy="169164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25" name="Text 22"/>
          <p:cNvSpPr/>
          <p:nvPr/>
        </p:nvSpPr>
        <p:spPr>
          <a:xfrm>
            <a:off x="749808" y="4599432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Thesis</a:t>
            </a:r>
            <a:endParaRPr lang="en-US" sz="2200" dirty="0"/>
          </a:p>
        </p:txBody>
      </p:sp>
      <p:sp>
        <p:nvSpPr>
          <p:cNvPr id="26" name="Text 23"/>
          <p:cNvSpPr/>
          <p:nvPr/>
        </p:nvSpPr>
        <p:spPr>
          <a:xfrm>
            <a:off x="749808" y="530352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Chapters &amp; publications, with Drive links.</a:t>
            </a:r>
            <a:endParaRPr lang="en-US" sz="1800" dirty="0"/>
          </a:p>
        </p:txBody>
      </p:sp>
      <p:sp>
        <p:nvSpPr>
          <p:cNvPr id="27" name="Shape 24"/>
          <p:cNvSpPr/>
          <p:nvPr/>
        </p:nvSpPr>
        <p:spPr>
          <a:xfrm>
            <a:off x="3383280" y="4434840"/>
            <a:ext cx="260604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3383280" y="4434840"/>
            <a:ext cx="73152" cy="1691640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29" name="Text 26"/>
          <p:cNvSpPr/>
          <p:nvPr/>
        </p:nvSpPr>
        <p:spPr>
          <a:xfrm>
            <a:off x="3584448" y="4599432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Files</a:t>
            </a:r>
            <a:endParaRPr lang="en-US" sz="2200" dirty="0"/>
          </a:p>
        </p:txBody>
      </p:sp>
      <p:sp>
        <p:nvSpPr>
          <p:cNvPr id="30" name="Text 27"/>
          <p:cNvSpPr/>
          <p:nvPr/>
        </p:nvSpPr>
        <p:spPr>
          <a:xfrm>
            <a:off x="3584448" y="530352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shared Google Drive folder.</a:t>
            </a:r>
            <a:endParaRPr lang="en-US" sz="1800" dirty="0"/>
          </a:p>
        </p:txBody>
      </p:sp>
      <p:sp>
        <p:nvSpPr>
          <p:cNvPr id="31" name="Shape 28"/>
          <p:cNvSpPr/>
          <p:nvPr/>
        </p:nvSpPr>
        <p:spPr>
          <a:xfrm>
            <a:off x="6217920" y="4434840"/>
            <a:ext cx="260604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6217920" y="4434840"/>
            <a:ext cx="73152" cy="169164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33" name="Text 30"/>
          <p:cNvSpPr/>
          <p:nvPr/>
        </p:nvSpPr>
        <p:spPr>
          <a:xfrm>
            <a:off x="6419088" y="4599432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Check-in</a:t>
            </a:r>
            <a:endParaRPr lang="en-US" sz="2200" dirty="0"/>
          </a:p>
        </p:txBody>
      </p:sp>
      <p:sp>
        <p:nvSpPr>
          <p:cNvPr id="34" name="Text 31"/>
          <p:cNvSpPr/>
          <p:nvPr/>
        </p:nvSpPr>
        <p:spPr>
          <a:xfrm>
            <a:off x="6419088" y="530352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weekly nudge: did, blockers, next.</a:t>
            </a:r>
            <a:endParaRPr lang="en-US" sz="1800" dirty="0"/>
          </a:p>
        </p:txBody>
      </p:sp>
      <p:sp>
        <p:nvSpPr>
          <p:cNvPr id="35" name="Shape 32"/>
          <p:cNvSpPr/>
          <p:nvPr/>
        </p:nvSpPr>
        <p:spPr>
          <a:xfrm>
            <a:off x="9052560" y="4434840"/>
            <a:ext cx="260604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9052560" y="4434840"/>
            <a:ext cx="73152" cy="169164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37" name="Text 34"/>
          <p:cNvSpPr/>
          <p:nvPr/>
        </p:nvSpPr>
        <p:spPr>
          <a:xfrm>
            <a:off x="9253728" y="4599432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Feedback</a:t>
            </a:r>
            <a:endParaRPr lang="en-US" sz="2200" dirty="0"/>
          </a:p>
        </p:txBody>
      </p:sp>
      <p:sp>
        <p:nvSpPr>
          <p:cNvPr id="38" name="Text 35"/>
          <p:cNvSpPr/>
          <p:nvPr/>
        </p:nvSpPr>
        <p:spPr>
          <a:xfrm>
            <a:off x="9253728" y="530352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Send a bug or idea to the admin.</a:t>
            </a:r>
            <a:endParaRPr lang="en-US" sz="1800" dirty="0"/>
          </a:p>
        </p:txBody>
      </p:sp>
      <p:sp>
        <p:nvSpPr>
          <p:cNvPr id="39" name="Shape 36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students</a:t>
            </a:r>
            <a:endParaRPr lang="en-US" sz="1300" dirty="0"/>
          </a:p>
        </p:txBody>
      </p:sp>
      <p:sp>
        <p:nvSpPr>
          <p:cNvPr id="41" name="Text 38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/ 16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F3D8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F3D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PROFILE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Signing in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548640" y="1508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Sign in with the Google account your supervisor added. One account, no separate password.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2103120"/>
            <a:ext cx="5577840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2103120"/>
            <a:ext cx="73152" cy="3108960"/>
          </a:xfrm>
          <a:prstGeom prst="rect">
            <a:avLst/>
          </a:prstGeom>
          <a:solidFill>
            <a:srgbClr val="FF3D8B"/>
          </a:solidFill>
          <a:ln/>
        </p:spPr>
      </p:sp>
      <p:sp>
        <p:nvSpPr>
          <p:cNvPr id="9" name="Text 6"/>
          <p:cNvSpPr/>
          <p:nvPr/>
        </p:nvSpPr>
        <p:spPr>
          <a:xfrm>
            <a:off x="749808" y="2267712"/>
            <a:ext cx="5257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to sign in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777240" y="2697480"/>
            <a:ext cx="51663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Click ‘Continue with Google’.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Pick the Gmail account your supervisor added.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Grant Calendar + Drive access (read + write).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‘Access blocked’? Your email isn't on the test list yet.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Forgot a permission? Sign out + back in to re-authorise.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492240" y="2103120"/>
            <a:ext cx="5120640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92240" y="2103120"/>
            <a:ext cx="73152" cy="310896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13" name="Text 10"/>
          <p:cNvSpPr/>
          <p:nvPr/>
        </p:nvSpPr>
        <p:spPr>
          <a:xfrm>
            <a:off x="6693408" y="2267712"/>
            <a:ext cx="4800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profile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6720840" y="2697480"/>
            <a:ext cx="47091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Name, alias, photo, accent colour.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Profile links: LinkedIn · ORCID · Scholar · Website.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Alternate emails — informational list (institutional + personal).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Only supervisors / admin can edit your profile.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students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/ 16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6F4CFF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6F4C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DASHBOARD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dashboard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548640" y="1508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snapshot of where you are right now. The first thing you see when you sign in.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2011680"/>
            <a:ext cx="2697480" cy="91440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548640" y="2011680"/>
            <a:ext cx="73152" cy="91440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9" name="Text 6"/>
          <p:cNvSpPr/>
          <p:nvPr/>
        </p:nvSpPr>
        <p:spPr>
          <a:xfrm>
            <a:off x="749808" y="21031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749808" y="25603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Due this week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3337560" y="2011680"/>
            <a:ext cx="2697480" cy="91440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337560" y="2011680"/>
            <a:ext cx="73152" cy="914400"/>
          </a:xfrm>
          <a:prstGeom prst="rect">
            <a:avLst/>
          </a:prstGeom>
          <a:solidFill>
            <a:srgbClr val="00D1C1"/>
          </a:solidFill>
          <a:ln/>
        </p:spPr>
      </p:sp>
      <p:sp>
        <p:nvSpPr>
          <p:cNvPr id="13" name="Text 10"/>
          <p:cNvSpPr/>
          <p:nvPr/>
        </p:nvSpPr>
        <p:spPr>
          <a:xfrm>
            <a:off x="3538728" y="21031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Events</a:t>
            </a:r>
            <a:endParaRPr lang="en-US" sz="2600" dirty="0"/>
          </a:p>
        </p:txBody>
      </p:sp>
      <p:sp>
        <p:nvSpPr>
          <p:cNvPr id="14" name="Text 11"/>
          <p:cNvSpPr/>
          <p:nvPr/>
        </p:nvSpPr>
        <p:spPr>
          <a:xfrm>
            <a:off x="3538728" y="25603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Next 7 days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6126480" y="2011680"/>
            <a:ext cx="2697480" cy="91440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126480" y="2011680"/>
            <a:ext cx="73152" cy="914400"/>
          </a:xfrm>
          <a:prstGeom prst="rect">
            <a:avLst/>
          </a:prstGeom>
          <a:solidFill>
            <a:srgbClr val="00CA72"/>
          </a:solidFill>
          <a:ln/>
        </p:spPr>
      </p:sp>
      <p:sp>
        <p:nvSpPr>
          <p:cNvPr id="17" name="Text 14"/>
          <p:cNvSpPr/>
          <p:nvPr/>
        </p:nvSpPr>
        <p:spPr>
          <a:xfrm>
            <a:off x="6327648" y="21031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Chat</a:t>
            </a:r>
            <a:endParaRPr lang="en-US" sz="2600" dirty="0"/>
          </a:p>
        </p:txBody>
      </p:sp>
      <p:sp>
        <p:nvSpPr>
          <p:cNvPr id="18" name="Text 15"/>
          <p:cNvSpPr/>
          <p:nvPr/>
        </p:nvSpPr>
        <p:spPr>
          <a:xfrm>
            <a:off x="6327648" y="25603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Unread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8915400" y="2011680"/>
            <a:ext cx="2697480" cy="91440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8915400" y="2011680"/>
            <a:ext cx="73152" cy="914400"/>
          </a:xfrm>
          <a:prstGeom prst="rect">
            <a:avLst/>
          </a:prstGeom>
          <a:solidFill>
            <a:srgbClr val="FF3D8B"/>
          </a:solidFill>
          <a:ln/>
        </p:spPr>
      </p:sp>
      <p:sp>
        <p:nvSpPr>
          <p:cNvPr id="21" name="Text 18"/>
          <p:cNvSpPr/>
          <p:nvPr/>
        </p:nvSpPr>
        <p:spPr>
          <a:xfrm>
            <a:off x="9116568" y="21031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Notifications</a:t>
            </a:r>
            <a:endParaRPr lang="en-US" sz="2600" dirty="0"/>
          </a:p>
        </p:txBody>
      </p:sp>
      <p:sp>
        <p:nvSpPr>
          <p:cNvPr id="22" name="Text 19"/>
          <p:cNvSpPr/>
          <p:nvPr/>
        </p:nvSpPr>
        <p:spPr>
          <a:xfrm>
            <a:off x="9116568" y="25603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New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548640" y="3108960"/>
            <a:ext cx="11094415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548640" y="3108960"/>
            <a:ext cx="73152" cy="310896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25" name="Text 22"/>
          <p:cNvSpPr/>
          <p:nvPr/>
        </p:nvSpPr>
        <p:spPr>
          <a:xfrm>
            <a:off x="749808" y="3273552"/>
            <a:ext cx="107743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What's on it</a:t>
            </a:r>
            <a:endParaRPr lang="en-US" sz="2200" dirty="0"/>
          </a:p>
        </p:txBody>
      </p:sp>
      <p:sp>
        <p:nvSpPr>
          <p:cNvPr id="26" name="Text 23"/>
          <p:cNvSpPr/>
          <p:nvPr/>
        </p:nvSpPr>
        <p:spPr>
          <a:xfrm>
            <a:off x="777240" y="3977640"/>
            <a:ext cx="10637215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‘Due soon’ tasks (overdue first), with priority chips.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Upcoming events and meetings, with the next ones at the top.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Last activity from your supervisors — comments, status changes.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Pending check-in reminder when the week ticks over.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Sidebar badges mirror these counts — visible from every module.</a:t>
            </a:r>
            <a:endParaRPr lang="en-US" sz="1800" dirty="0"/>
          </a:p>
        </p:txBody>
      </p:sp>
      <p:sp>
        <p:nvSpPr>
          <p:cNvPr id="27" name="Shape 24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students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/ 16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F7A45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F7A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 · three ways to see them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548640" y="1508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Same tasks, three layouts — pick what fits the moment.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2423160"/>
            <a:ext cx="361188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2423160"/>
            <a:ext cx="73152" cy="402336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9" name="Text 6"/>
          <p:cNvSpPr/>
          <p:nvPr/>
        </p:nvSpPr>
        <p:spPr>
          <a:xfrm>
            <a:off x="749808" y="258775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Board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749808" y="3291840"/>
            <a:ext cx="3291840" cy="2990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Kanban Backlog → Done.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749808" y="4114800"/>
            <a:ext cx="329184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Drag cards to change status.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Banners on new / updated.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for daily focus.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4343400" y="2423160"/>
            <a:ext cx="361188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343400" y="2423160"/>
            <a:ext cx="73152" cy="402336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14" name="Text 11"/>
          <p:cNvSpPr/>
          <p:nvPr/>
        </p:nvSpPr>
        <p:spPr>
          <a:xfrm>
            <a:off x="4544568" y="258775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List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4544568" y="3291840"/>
            <a:ext cx="3291840" cy="2990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Table with the full hierarchy.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4544568" y="4114800"/>
            <a:ext cx="329184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tasks under a name.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Multi-select to bulk edit.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Filter by group / Individual.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138160" y="2423160"/>
            <a:ext cx="361188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138160" y="2423160"/>
            <a:ext cx="73152" cy="402336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19" name="Text 16"/>
          <p:cNvSpPr/>
          <p:nvPr/>
        </p:nvSpPr>
        <p:spPr>
          <a:xfrm>
            <a:off x="8339328" y="258775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Gantt</a:t>
            </a:r>
            <a:endParaRPr lang="en-US" sz="2200" dirty="0"/>
          </a:p>
        </p:txBody>
      </p:sp>
      <p:sp>
        <p:nvSpPr>
          <p:cNvPr id="20" name="Text 17"/>
          <p:cNvSpPr/>
          <p:nvPr/>
        </p:nvSpPr>
        <p:spPr>
          <a:xfrm>
            <a:off x="8339328" y="3291840"/>
            <a:ext cx="3291840" cy="2990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Timeline grouped by student.</a:t>
            </a:r>
            <a:endParaRPr lang="en-US" sz="1800" dirty="0"/>
          </a:p>
        </p:txBody>
      </p:sp>
      <p:sp>
        <p:nvSpPr>
          <p:cNvPr id="21" name="Text 18"/>
          <p:cNvSpPr/>
          <p:nvPr/>
        </p:nvSpPr>
        <p:spPr>
          <a:xfrm>
            <a:off x="8339328" y="4114800"/>
            <a:ext cx="329184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Bars = tasks; ◆ = sub-tasks.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Expand a task to see sub-tasks.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Dependents indented under parent.</a:t>
            </a:r>
            <a:endParaRPr lang="en-US" sz="1800" dirty="0"/>
          </a:p>
        </p:txBody>
      </p:sp>
      <p:sp>
        <p:nvSpPr>
          <p:cNvPr id="22" name="Shape 19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students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/ 16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F7A45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F7A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 · the anatomy of a task</a:t>
            </a:r>
            <a:endParaRPr lang="en-US" sz="400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Fields &amp; states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Status: Backlog → To do → In progress → Review → Blocked → Done.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Priority L/M/H/U + category, due date, sub-tasks.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Drive folder (single) + Links list (papers, websites, repos).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Threaded comments — reply, edit, delete; marked (edited).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📅 badge: count of Calendar events linked to this task.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E2445C"/>
          </a:solidFill>
          <a:ln/>
        </p:spPr>
      </p:sp>
      <p:sp>
        <p:nvSpPr>
          <p:cNvPr id="12" name="Text 9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Dependencies (auto-blocked)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Pick one or more ‘parent’ tasks in the Depends on selector.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task automatically becomes Blocked until every parent is Done.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When the last parent is Done, it auto-moves to To do.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Re-opening a parent re-blocks its dependents.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Cycles and cross-student dependencies are rejected.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students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/ 16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F7A45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F7A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 · completing &amp; groups</a:t>
            </a:r>
            <a:endParaRPr lang="en-US" sz="400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Marking a task completed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don't set Done — a supervisor does.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Click ‘Mark as completed’ (or drag to Done).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✓ completion-requested badge appears; your supervisors get a bell + email.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supervisor reviews and moves it to Done.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 your status changes also show in your supervisors' bell.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12" name="Text 9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Groups &amp; filters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Tick tasks in List view → name → Create group.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Or set a group from a task's detail panel.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Grouped rows carry a coloured left bar; ungrouped sit under ‘Individual tasks’.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Toolbar filters: priority, category, group (or Individual only), search.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students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 / 16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00D1C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00D1C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CALENDAR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Calendar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548640" y="1508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Real meetings, task deadlines, and your supervisors' availability — together.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00D1C1"/>
          </a:solidFill>
          <a:ln/>
        </p:spPr>
      </p:sp>
      <p:sp>
        <p:nvSpPr>
          <p:cNvPr id="9" name="Text 6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you see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Real events (pushed to Google Calendar) — solid chips.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[Task]_… / [Sub-task]_… — all-day deadline entries, also synced to Google.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Recurring events weekly/monthly with a Stop action.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Supervisors' away periods show as ⊘ Unavailable. 🎉 Sevilla public holidays marked on every view (incl. Corpus Christi).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00D1C1"/>
          </a:solidFill>
          <a:ln/>
        </p:spPr>
      </p:sp>
      <p:sp>
        <p:nvSpPr>
          <p:cNvPr id="13" name="Text 10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an event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Year / Month / Week / Day — Week/Day cover 24h and auto-scroll to the current hour.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All-day items show in a dedicated strip above the hour grid.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Threaded comments — reply, edit, delete.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Links list (Overleaf docs, references, websites).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Link an event to a Task — shows on the task too.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students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/ 16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00CA72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00CA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CHAT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Chat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548640" y="1508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Channels with your team — and a default ‘Team’ channel each student gets automatically.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00CA72"/>
          </a:solidFill>
          <a:ln/>
        </p:spPr>
      </p:sp>
      <p:sp>
        <p:nvSpPr>
          <p:cNvPr id="9" name="Text 6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Writing &amp; reading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Type, Enter to send; edit/delete your own.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Reply to a message — quoted snippet appears.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Drag-and-drop files; ⌘V to paste a screenshot.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Delivery ticks: ✓ sent · ✓✓ delivered · blue when seen.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Per-device sound + volume settings.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00CA72"/>
          </a:solidFill>
          <a:ln/>
        </p:spPr>
      </p:sp>
      <p:sp>
        <p:nvSpPr>
          <p:cNvPr id="13" name="Text 10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Channels &amp; alerts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 ‘Team · …’ channel for each student.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Start more channels with + (with your supervisors).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Tab title: ‘(N) X messaged you’ when unread.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Favicon shows a red count badge.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Sound config in the channel ⋮ menu. 📊 Polls (button next to paperclip) — question + 2-10 options, single/multi-vote, optional close date; you see who voted what. URLs auto-link.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students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 / 16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2196F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2196F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FILES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Files, Thesis &amp; Publications</a:t>
            </a:r>
            <a:endParaRPr lang="en-US" sz="400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Files (Drive)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Auto-shared with you, your supervisors, and any team advisor. External advisors and committee aren't in this folder. Your shared Drive folder lives on your supervisor's Google.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any file or folder in a new tab.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 and thesis chapters can link a specific folder via the Drive picker — no URL pasting needed.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12" name="Text 9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Thesis &amp; publications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Chapters: planned → drafting → in review → revising → done.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Publications: in prep → submitted → under review → revisions → accepted/published.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can carry a Drive link via the picker.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Used by the Annual review export (Cmd+P → Save as PDF).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students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 / 16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6F4CFF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6F4C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READING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Reading list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548640" y="1508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Papers you should read, and ones you propose for your supervisor's approval.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9" name="Text 6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What's there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supervisor adds papers (auto-approved) — title, authors, link, status.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Mark items reading / done as you go.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Status flow: proposed → approved → reading → done (or rejected).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13" name="Text 10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Proposing a paper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 the title/authors and a ‘Why is this relevant?’ note.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supervisors are notified.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They approve (with optional comment) or reject (with reason).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Approved items move to the main reading queue.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students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 / 16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F7A45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F7A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Weekly check-in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548640" y="1508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two-minute reflection each week. Your supervisors see it; only they see your wellbeing.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9" name="Text 6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Three short prompts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Did this week — what you actually shipped.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Blockers — what's in the way.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Next week — what you're planning.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Edit it any time during the same week.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FF3D8B"/>
          </a:solidFill>
          <a:ln/>
        </p:spPr>
      </p:sp>
      <p:sp>
        <p:nvSpPr>
          <p:cNvPr id="13" name="Text 10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Wellbeing (private)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Optional 1–5 score for how the week felt.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Visible only to your supervisors and the admin — never to peers or external advisors.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Helps your supervisors notice rough weeks early.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students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 / 16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F3D8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F3D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NOTIFICATIONS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Notifications · where things show up</a:t>
            </a:r>
            <a:endParaRPr lang="en-US" sz="4000" dirty="0"/>
          </a:p>
        </p:txBody>
      </p:sp>
      <p:sp>
        <p:nvSpPr>
          <p:cNvPr id="6" name="Shape 3"/>
          <p:cNvSpPr/>
          <p:nvPr/>
        </p:nvSpPr>
        <p:spPr>
          <a:xfrm>
            <a:off x="548640" y="1920240"/>
            <a:ext cx="2697480" cy="2057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920240"/>
            <a:ext cx="73152" cy="2057400"/>
          </a:xfrm>
          <a:prstGeom prst="rect">
            <a:avLst/>
          </a:prstGeom>
          <a:solidFill>
            <a:srgbClr val="FF3D8B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2084832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🔔 Bell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49808" y="2788920"/>
            <a:ext cx="23774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Supervisor comments, status changes, new readings, away periods.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3429000" y="1920240"/>
            <a:ext cx="2697480" cy="2057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429000" y="1920240"/>
            <a:ext cx="73152" cy="2057400"/>
          </a:xfrm>
          <a:prstGeom prst="rect">
            <a:avLst/>
          </a:prstGeom>
          <a:solidFill>
            <a:srgbClr val="00CA72"/>
          </a:solidFill>
          <a:ln/>
        </p:spPr>
      </p:sp>
      <p:sp>
        <p:nvSpPr>
          <p:cNvPr id="12" name="Text 9"/>
          <p:cNvSpPr/>
          <p:nvPr/>
        </p:nvSpPr>
        <p:spPr>
          <a:xfrm>
            <a:off x="3630168" y="2084832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Sidebar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3630168" y="2788920"/>
            <a:ext cx="23774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Pink dot on Chat, orange on Tasks, teal on Calendar.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548640" y="4206240"/>
            <a:ext cx="2697480" cy="2057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548640" y="4206240"/>
            <a:ext cx="73152" cy="205740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16" name="Text 13"/>
          <p:cNvSpPr/>
          <p:nvPr/>
        </p:nvSpPr>
        <p:spPr>
          <a:xfrm>
            <a:off x="749808" y="4370832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Cards</a:t>
            </a:r>
            <a:endParaRPr lang="en-US" sz="2200" dirty="0"/>
          </a:p>
        </p:txBody>
      </p:sp>
      <p:sp>
        <p:nvSpPr>
          <p:cNvPr id="17" name="Text 14"/>
          <p:cNvSpPr/>
          <p:nvPr/>
        </p:nvSpPr>
        <p:spPr>
          <a:xfrm>
            <a:off x="749808" y="5074920"/>
            <a:ext cx="23774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Coloured banner / ring on tasks and events with new activity.</a:t>
            </a:r>
            <a:endParaRPr lang="en-US" sz="1800" dirty="0"/>
          </a:p>
        </p:txBody>
      </p:sp>
      <p:sp>
        <p:nvSpPr>
          <p:cNvPr id="18" name="Shape 15"/>
          <p:cNvSpPr/>
          <p:nvPr/>
        </p:nvSpPr>
        <p:spPr>
          <a:xfrm>
            <a:off x="3429000" y="4206240"/>
            <a:ext cx="2697480" cy="2057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3429000" y="4206240"/>
            <a:ext cx="73152" cy="2057400"/>
          </a:xfrm>
          <a:prstGeom prst="rect">
            <a:avLst/>
          </a:prstGeom>
          <a:solidFill>
            <a:srgbClr val="00D1C1"/>
          </a:solidFill>
          <a:ln/>
        </p:spPr>
      </p:sp>
      <p:sp>
        <p:nvSpPr>
          <p:cNvPr id="20" name="Text 17"/>
          <p:cNvSpPr/>
          <p:nvPr/>
        </p:nvSpPr>
        <p:spPr>
          <a:xfrm>
            <a:off x="3630168" y="4370832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Tab title</a:t>
            </a:r>
            <a:endParaRPr lang="en-US" sz="2200" dirty="0"/>
          </a:p>
        </p:txBody>
      </p:sp>
      <p:sp>
        <p:nvSpPr>
          <p:cNvPr id="21" name="Text 18"/>
          <p:cNvSpPr/>
          <p:nvPr/>
        </p:nvSpPr>
        <p:spPr>
          <a:xfrm>
            <a:off x="3630168" y="5074920"/>
            <a:ext cx="23774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Tab title + favicon update when chat is unread.</a:t>
            </a:r>
            <a:endParaRPr lang="en-US" sz="1800" dirty="0"/>
          </a:p>
        </p:txBody>
      </p:sp>
      <p:sp>
        <p:nvSpPr>
          <p:cNvPr id="22" name="Shape 19"/>
          <p:cNvSpPr/>
          <p:nvPr/>
        </p:nvSpPr>
        <p:spPr>
          <a:xfrm>
            <a:off x="6309360" y="1920240"/>
            <a:ext cx="5333695" cy="4343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6309360" y="1920240"/>
            <a:ext cx="73152" cy="434340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24" name="Text 21"/>
          <p:cNvSpPr/>
          <p:nvPr/>
        </p:nvSpPr>
        <p:spPr>
          <a:xfrm>
            <a:off x="6510528" y="2084832"/>
            <a:ext cx="501365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When a supervisor…</a:t>
            </a:r>
            <a:endParaRPr lang="en-US" sz="2200" dirty="0"/>
          </a:p>
        </p:txBody>
      </p:sp>
      <p:sp>
        <p:nvSpPr>
          <p:cNvPr id="25" name="Text 22"/>
          <p:cNvSpPr/>
          <p:nvPr/>
        </p:nvSpPr>
        <p:spPr>
          <a:xfrm>
            <a:off x="6510528" y="2788920"/>
            <a:ext cx="4967935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comments on your task,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changes its status, priority, due date or assignee,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responds to your completion request,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approves / rejects a paper you proposed,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get a 🔔 + email (if configured).</a:t>
            </a:r>
            <a:endParaRPr lang="en-US" sz="1800" dirty="0"/>
          </a:p>
        </p:txBody>
      </p:sp>
      <p:sp>
        <p:nvSpPr>
          <p:cNvPr id="26" name="Text 23"/>
          <p:cNvSpPr/>
          <p:nvPr/>
        </p:nvSpPr>
        <p:spPr>
          <a:xfrm>
            <a:off x="6510528" y="5760720"/>
            <a:ext cx="49679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Minor text edits stay silent.</a:t>
            </a:r>
            <a:endParaRPr lang="en-US" sz="1800" dirty="0"/>
          </a:p>
        </p:txBody>
      </p:sp>
      <p:sp>
        <p:nvSpPr>
          <p:cNvPr id="27" name="Shape 24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students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 / 16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6F4CFF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6F4C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FEEDBACK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Feedback to the admin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548640" y="1508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Bug? Idea? Anything else? Send it directly — no email needed.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9" name="Text 6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Send a message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Pick a type: Bug · Suggestion · Other.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 a subject and a message.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Optionally attach a photo / screenshot.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Send to admin — they're notified instantly.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13" name="Text 10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Track responses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Status: Open / Planned / In progress / Done / Declined.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Back-and-forth thread — reply to the admin's reply.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Sidebar badge + email when anyone posts in your thread.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Collapse old entries to keep the list tidy (remembered).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students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 / 16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6F4CFF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6F4C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DASHBOARD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day with PhDapp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548640" y="1508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Six moments a typical day — from morning standup to Friday wrap-up.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228600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49808" y="2487168"/>
            <a:ext cx="502920" cy="502920"/>
          </a:xfrm>
          <a:prstGeom prst="ellipse">
            <a:avLst/>
          </a:prstGeom>
          <a:solidFill>
            <a:srgbClr val="6F4CFF"/>
          </a:solidFill>
          <a:ln/>
        </p:spPr>
      </p:sp>
      <p:sp>
        <p:nvSpPr>
          <p:cNvPr id="9" name="Text 6"/>
          <p:cNvSpPr/>
          <p:nvPr/>
        </p:nvSpPr>
        <p:spPr>
          <a:xfrm>
            <a:off x="749808" y="24871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1417320" y="2532888"/>
            <a:ext cx="2542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Morning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749808" y="315468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Dashboard — Due this week + next 7 days.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4343400" y="228600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544568" y="2487168"/>
            <a:ext cx="502920" cy="502920"/>
          </a:xfrm>
          <a:prstGeom prst="ellipse">
            <a:avLst/>
          </a:prstGeom>
          <a:solidFill>
            <a:srgbClr val="FF3D8B"/>
          </a:solidFill>
          <a:ln/>
        </p:spPr>
      </p:sp>
      <p:sp>
        <p:nvSpPr>
          <p:cNvPr id="14" name="Text 11"/>
          <p:cNvSpPr/>
          <p:nvPr/>
        </p:nvSpPr>
        <p:spPr>
          <a:xfrm>
            <a:off x="4544568" y="24871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5212080" y="2532888"/>
            <a:ext cx="2542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🔔 Bell</a:t>
            </a:r>
            <a:endParaRPr lang="en-US" sz="2200" dirty="0"/>
          </a:p>
        </p:txBody>
      </p:sp>
      <p:sp>
        <p:nvSpPr>
          <p:cNvPr id="16" name="Text 13"/>
          <p:cNvSpPr/>
          <p:nvPr/>
        </p:nvSpPr>
        <p:spPr>
          <a:xfrm>
            <a:off x="4544568" y="315468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Skim what supervisors changed since yesterday.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138160" y="228600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339328" y="2487168"/>
            <a:ext cx="502920" cy="502920"/>
          </a:xfrm>
          <a:prstGeom prst="ellipse">
            <a:avLst/>
          </a:prstGeom>
          <a:solidFill>
            <a:srgbClr val="FF7A45"/>
          </a:solidFill>
          <a:ln/>
        </p:spPr>
      </p:sp>
      <p:sp>
        <p:nvSpPr>
          <p:cNvPr id="19" name="Text 16"/>
          <p:cNvSpPr/>
          <p:nvPr/>
        </p:nvSpPr>
        <p:spPr>
          <a:xfrm>
            <a:off x="8339328" y="24871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200" dirty="0"/>
          </a:p>
        </p:txBody>
      </p:sp>
      <p:sp>
        <p:nvSpPr>
          <p:cNvPr id="20" name="Text 17"/>
          <p:cNvSpPr/>
          <p:nvPr/>
        </p:nvSpPr>
        <p:spPr>
          <a:xfrm>
            <a:off x="9006840" y="2532888"/>
            <a:ext cx="2542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</a:t>
            </a:r>
            <a:endParaRPr lang="en-US" sz="2200" dirty="0"/>
          </a:p>
        </p:txBody>
      </p:sp>
      <p:sp>
        <p:nvSpPr>
          <p:cNvPr id="21" name="Text 18"/>
          <p:cNvSpPr/>
          <p:nvPr/>
        </p:nvSpPr>
        <p:spPr>
          <a:xfrm>
            <a:off x="8339328" y="315468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Drag through statuses; Mark as completed when done.</a:t>
            </a:r>
            <a:endParaRPr lang="en-US" sz="1800" dirty="0"/>
          </a:p>
        </p:txBody>
      </p:sp>
      <p:sp>
        <p:nvSpPr>
          <p:cNvPr id="22" name="Shape 19"/>
          <p:cNvSpPr/>
          <p:nvPr/>
        </p:nvSpPr>
        <p:spPr>
          <a:xfrm>
            <a:off x="548640" y="429768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749808" y="4498848"/>
            <a:ext cx="502920" cy="502920"/>
          </a:xfrm>
          <a:prstGeom prst="ellipse">
            <a:avLst/>
          </a:prstGeom>
          <a:solidFill>
            <a:srgbClr val="00D1C1"/>
          </a:solidFill>
          <a:ln/>
        </p:spPr>
      </p:sp>
      <p:sp>
        <p:nvSpPr>
          <p:cNvPr id="24" name="Text 21"/>
          <p:cNvSpPr/>
          <p:nvPr/>
        </p:nvSpPr>
        <p:spPr>
          <a:xfrm>
            <a:off x="749808" y="44988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2200" dirty="0"/>
          </a:p>
        </p:txBody>
      </p:sp>
      <p:sp>
        <p:nvSpPr>
          <p:cNvPr id="25" name="Text 22"/>
          <p:cNvSpPr/>
          <p:nvPr/>
        </p:nvSpPr>
        <p:spPr>
          <a:xfrm>
            <a:off x="1417320" y="4544568"/>
            <a:ext cx="2542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Meetings</a:t>
            </a:r>
            <a:endParaRPr lang="en-US" sz="2200" dirty="0"/>
          </a:p>
        </p:txBody>
      </p:sp>
      <p:sp>
        <p:nvSpPr>
          <p:cNvPr id="26" name="Text 23"/>
          <p:cNvSpPr/>
          <p:nvPr/>
        </p:nvSpPr>
        <p:spPr>
          <a:xfrm>
            <a:off x="749808" y="516636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Calendar — today's 1:1s; add agenda points.</a:t>
            </a:r>
            <a:endParaRPr lang="en-US" sz="1800" dirty="0"/>
          </a:p>
        </p:txBody>
      </p:sp>
      <p:sp>
        <p:nvSpPr>
          <p:cNvPr id="27" name="Shape 24"/>
          <p:cNvSpPr/>
          <p:nvPr/>
        </p:nvSpPr>
        <p:spPr>
          <a:xfrm>
            <a:off x="4343400" y="429768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4544568" y="4498848"/>
            <a:ext cx="502920" cy="502920"/>
          </a:xfrm>
          <a:prstGeom prst="ellipse">
            <a:avLst/>
          </a:prstGeom>
          <a:solidFill>
            <a:srgbClr val="00CA72"/>
          </a:solidFill>
          <a:ln/>
        </p:spPr>
      </p:sp>
      <p:sp>
        <p:nvSpPr>
          <p:cNvPr id="29" name="Text 26"/>
          <p:cNvSpPr/>
          <p:nvPr/>
        </p:nvSpPr>
        <p:spPr>
          <a:xfrm>
            <a:off x="4544568" y="44988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2200" dirty="0"/>
          </a:p>
        </p:txBody>
      </p:sp>
      <p:sp>
        <p:nvSpPr>
          <p:cNvPr id="30" name="Text 27"/>
          <p:cNvSpPr/>
          <p:nvPr/>
        </p:nvSpPr>
        <p:spPr>
          <a:xfrm>
            <a:off x="5212080" y="4544568"/>
            <a:ext cx="2542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Chat &amp; files</a:t>
            </a:r>
            <a:endParaRPr lang="en-US" sz="2200" dirty="0"/>
          </a:p>
        </p:txBody>
      </p:sp>
      <p:sp>
        <p:nvSpPr>
          <p:cNvPr id="31" name="Text 28"/>
          <p:cNvSpPr/>
          <p:nvPr/>
        </p:nvSpPr>
        <p:spPr>
          <a:xfrm>
            <a:off x="4544568" y="516636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Reply in your Team channel; drag files, ⌘V screenshots.</a:t>
            </a:r>
            <a:endParaRPr lang="en-US" sz="1800" dirty="0"/>
          </a:p>
        </p:txBody>
      </p:sp>
      <p:sp>
        <p:nvSpPr>
          <p:cNvPr id="32" name="Shape 29"/>
          <p:cNvSpPr/>
          <p:nvPr/>
        </p:nvSpPr>
        <p:spPr>
          <a:xfrm>
            <a:off x="8138160" y="429768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33" name="Shape 30"/>
          <p:cNvSpPr/>
          <p:nvPr/>
        </p:nvSpPr>
        <p:spPr>
          <a:xfrm>
            <a:off x="8339328" y="4498848"/>
            <a:ext cx="502920" cy="502920"/>
          </a:xfrm>
          <a:prstGeom prst="ellipse">
            <a:avLst/>
          </a:prstGeom>
          <a:solidFill>
            <a:srgbClr val="6F4CFF"/>
          </a:solidFill>
          <a:ln/>
        </p:spPr>
      </p:sp>
      <p:sp>
        <p:nvSpPr>
          <p:cNvPr id="34" name="Text 31"/>
          <p:cNvSpPr/>
          <p:nvPr/>
        </p:nvSpPr>
        <p:spPr>
          <a:xfrm>
            <a:off x="8339328" y="44988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2200" dirty="0"/>
          </a:p>
        </p:txBody>
      </p:sp>
      <p:sp>
        <p:nvSpPr>
          <p:cNvPr id="35" name="Text 32"/>
          <p:cNvSpPr/>
          <p:nvPr/>
        </p:nvSpPr>
        <p:spPr>
          <a:xfrm>
            <a:off x="9006840" y="4544568"/>
            <a:ext cx="2542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Friday</a:t>
            </a:r>
            <a:endParaRPr lang="en-US" sz="2200" dirty="0"/>
          </a:p>
        </p:txBody>
      </p:sp>
      <p:sp>
        <p:nvSpPr>
          <p:cNvPr id="36" name="Text 33"/>
          <p:cNvSpPr/>
          <p:nvPr/>
        </p:nvSpPr>
        <p:spPr>
          <a:xfrm>
            <a:off x="8339328" y="516636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Weekly check-in — Did / Blockers / Next + wellbeing.</a:t>
            </a:r>
            <a:endParaRPr lang="en-US" sz="1800" dirty="0"/>
          </a:p>
        </p:txBody>
      </p:sp>
      <p:sp>
        <p:nvSpPr>
          <p:cNvPr id="37" name="Shape 34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students</a:t>
            </a:r>
            <a:endParaRPr lang="en-US" sz="1300" dirty="0"/>
          </a:p>
        </p:txBody>
      </p:sp>
      <p:sp>
        <p:nvSpPr>
          <p:cNvPr id="39" name="Text 36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 / 16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2196F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2196F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TIPS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Tips · and if something breaks</a:t>
            </a:r>
            <a:endParaRPr lang="en-US" sz="400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Tips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Keep the tab open — fewer missed alerts.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Channels for back-and-forth; comments for tasks.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Tag tasks with priority + due date.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Drop a weekly check-in even if quiet.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Right-click events → add to your iCal / Calendar.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E2445C"/>
          </a:solidFill>
          <a:ln/>
        </p:spPr>
      </p:sp>
      <p:sp>
        <p:nvSpPr>
          <p:cNvPr id="12" name="Text 9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If something breaks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‘Access blocked’ → ask your supervisor to add you.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Calendar/Drive missing → sign out + back in.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Sync feels stale → reload the tab.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Event time looks off → check your timezone.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Anything else → Feedback, type ‘Bug’.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students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 / 16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PhDapp — for students</dc:title>
  <dc:subject>PptxGenJS Presentation</dc:subject>
  <dc:creator>PhDapp</dc:creator>
  <cp:lastModifiedBy>PhDapp</cp:lastModifiedBy>
  <cp:revision>1</cp:revision>
  <dcterms:created xsi:type="dcterms:W3CDTF">2026-05-25T06:39:23Z</dcterms:created>
  <dcterms:modified xsi:type="dcterms:W3CDTF">2026-05-25T06:39:23Z</dcterms:modified>
</cp:coreProperties>
</file>