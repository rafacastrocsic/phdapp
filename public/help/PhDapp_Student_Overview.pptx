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310896" cy="310896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3" name="Shape 1"/>
          <p:cNvSpPr/>
          <p:nvPr/>
        </p:nvSpPr>
        <p:spPr>
          <a:xfrm>
            <a:off x="1261872" y="1371600"/>
            <a:ext cx="310896" cy="310896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4" name="Shape 2"/>
          <p:cNvSpPr/>
          <p:nvPr/>
        </p:nvSpPr>
        <p:spPr>
          <a:xfrm>
            <a:off x="1700784" y="1371600"/>
            <a:ext cx="310896" cy="310896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supervision hub,</a:t>
            </a:r>
            <a:endParaRPr lang="en-US" sz="44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one place.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04672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Tasks, calendar, chat, discussions, reading and thesis — all linked to you.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A79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GUIDED TOUR · FOR STUDENTS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workspace for your PhD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you and your supervisors do day-to-day, connected in a single place.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2554148" cy="1810512"/>
          </a:xfrm>
          <a:prstGeom prst="roundRect">
            <a:avLst>
              <a:gd name="adj" fmla="val 5051"/>
            </a:avLst>
          </a:prstGeom>
          <a:solidFill>
            <a:srgbClr val="FF7A45">
              <a:alpha val="9000"/>
            </a:srgbClr>
          </a:solidFill>
          <a:ln w="12700">
            <a:solidFill>
              <a:srgbClr val="FF7A45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2112264"/>
            <a:ext cx="182880" cy="182880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048256"/>
            <a:ext cx="1895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86384" y="2459736"/>
            <a:ext cx="20969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 / List / Gantt — your work, status and deadlines.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95396" y="1874520"/>
            <a:ext cx="2554148" cy="1810512"/>
          </a:xfrm>
          <a:prstGeom prst="roundRect">
            <a:avLst>
              <a:gd name="adj" fmla="val 5051"/>
            </a:avLst>
          </a:prstGeom>
          <a:solidFill>
            <a:srgbClr val="00D1C1">
              <a:alpha val="9000"/>
            </a:srgbClr>
          </a:solidFill>
          <a:ln w="12700">
            <a:solidFill>
              <a:srgbClr val="00D1C1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14852" y="2112264"/>
            <a:ext cx="182880" cy="182880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16" name="Text 14"/>
          <p:cNvSpPr/>
          <p:nvPr/>
        </p:nvSpPr>
        <p:spPr>
          <a:xfrm>
            <a:off x="3898316" y="2048256"/>
            <a:ext cx="1895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633140" y="2459736"/>
            <a:ext cx="20969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Events, deadlines and who’s away or remote.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42152" y="1874520"/>
            <a:ext cx="2554148" cy="1810512"/>
          </a:xfrm>
          <a:prstGeom prst="roundRect">
            <a:avLst>
              <a:gd name="adj" fmla="val 5051"/>
            </a:avLst>
          </a:prstGeom>
          <a:solidFill>
            <a:srgbClr val="00CA72">
              <a:alpha val="9000"/>
            </a:srgbClr>
          </a:solidFill>
          <a:ln w="12700">
            <a:solidFill>
              <a:srgbClr val="00CA72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1608" y="2112264"/>
            <a:ext cx="182880" cy="182880"/>
          </a:xfrm>
          <a:prstGeom prst="ellipse">
            <a:avLst/>
          </a:prstGeom>
          <a:solidFill>
            <a:srgbClr val="00CA72"/>
          </a:solidFill>
          <a:ln/>
        </p:spPr>
      </p:sp>
      <p:sp>
        <p:nvSpPr>
          <p:cNvPr id="20" name="Text 18"/>
          <p:cNvSpPr/>
          <p:nvPr/>
        </p:nvSpPr>
        <p:spPr>
          <a:xfrm>
            <a:off x="6745072" y="2048256"/>
            <a:ext cx="1895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79896" y="2459736"/>
            <a:ext cx="20969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with your team — replies, files, polls.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88907" y="1874520"/>
            <a:ext cx="2554148" cy="1810512"/>
          </a:xfrm>
          <a:prstGeom prst="roundRect">
            <a:avLst>
              <a:gd name="adj" fmla="val 5051"/>
            </a:avLst>
          </a:prstGeom>
          <a:solidFill>
            <a:srgbClr val="6F4CFF">
              <a:alpha val="9000"/>
            </a:srgbClr>
          </a:solidFill>
          <a:ln w="12700">
            <a:solidFill>
              <a:srgbClr val="6F4CF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308363" y="2112264"/>
            <a:ext cx="182880" cy="182880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24" name="Text 22"/>
          <p:cNvSpPr/>
          <p:nvPr/>
        </p:nvSpPr>
        <p:spPr>
          <a:xfrm>
            <a:off x="9591827" y="2048256"/>
            <a:ext cx="1895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326651" y="2459736"/>
            <a:ext cx="20969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topic threads for the whole team.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995928"/>
            <a:ext cx="2554148" cy="1810512"/>
          </a:xfrm>
          <a:prstGeom prst="roundRect">
            <a:avLst>
              <a:gd name="adj" fmla="val 5051"/>
            </a:avLst>
          </a:prstGeom>
          <a:solidFill>
            <a:srgbClr val="2196F3">
              <a:alpha val="9000"/>
            </a:srgbClr>
          </a:solidFill>
          <a:ln w="12700">
            <a:solidFill>
              <a:srgbClr val="2196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" y="4233672"/>
            <a:ext cx="182880" cy="182880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4169664"/>
            <a:ext cx="1895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86384" y="4581144"/>
            <a:ext cx="20969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shared Google Drive folder.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95396" y="3995928"/>
            <a:ext cx="2554148" cy="1810512"/>
          </a:xfrm>
          <a:prstGeom prst="roundRect">
            <a:avLst>
              <a:gd name="adj" fmla="val 5051"/>
            </a:avLst>
          </a:prstGeom>
          <a:solidFill>
            <a:srgbClr val="6F4CFF">
              <a:alpha val="9000"/>
            </a:srgbClr>
          </a:solidFill>
          <a:ln w="12700">
            <a:solidFill>
              <a:srgbClr val="6F4CFF">
                <a:alpha val="4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14852" y="4233672"/>
            <a:ext cx="182880" cy="182880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32" name="Text 30"/>
          <p:cNvSpPr/>
          <p:nvPr/>
        </p:nvSpPr>
        <p:spPr>
          <a:xfrm>
            <a:off x="3898316" y="4169664"/>
            <a:ext cx="1895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633140" y="4581144"/>
            <a:ext cx="20969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papers and propose new ones.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42152" y="3995928"/>
            <a:ext cx="2554148" cy="1810512"/>
          </a:xfrm>
          <a:prstGeom prst="roundRect">
            <a:avLst>
              <a:gd name="adj" fmla="val 5051"/>
            </a:avLst>
          </a:prstGeom>
          <a:solidFill>
            <a:srgbClr val="FF3D8B">
              <a:alpha val="9000"/>
            </a:srgbClr>
          </a:solidFill>
          <a:ln w="12700">
            <a:solidFill>
              <a:srgbClr val="FF3D8B">
                <a:alpha val="4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61608" y="4233672"/>
            <a:ext cx="182880" cy="182880"/>
          </a:xfrm>
          <a:prstGeom prst="ellipse">
            <a:avLst/>
          </a:prstGeom>
          <a:solidFill>
            <a:srgbClr val="FF3D8B"/>
          </a:solidFill>
          <a:ln/>
        </p:spPr>
      </p:sp>
      <p:sp>
        <p:nvSpPr>
          <p:cNvPr id="36" name="Text 34"/>
          <p:cNvSpPr/>
          <p:nvPr/>
        </p:nvSpPr>
        <p:spPr>
          <a:xfrm>
            <a:off x="6745072" y="4169664"/>
            <a:ext cx="1895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Thesis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479896" y="4581144"/>
            <a:ext cx="20969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Chapters &amp; publications with Drive links.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088907" y="3995928"/>
            <a:ext cx="2554148" cy="1810512"/>
          </a:xfrm>
          <a:prstGeom prst="roundRect">
            <a:avLst>
              <a:gd name="adj" fmla="val 5051"/>
            </a:avLst>
          </a:prstGeom>
          <a:solidFill>
            <a:srgbClr val="F59E0B">
              <a:alpha val="9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08363" y="423367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9591827" y="4169664"/>
            <a:ext cx="18957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Check-in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9326651" y="4581144"/>
            <a:ext cx="20969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two-minute weekly reflection.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Signing in &amp; your profile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Google account gets you in — then make the profile your own.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Signing in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 in with the Google account your supervisor added — no separate password.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time, allow the “app still being tested” screen and click Continue.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“Access blocked”? Your email isn’t on the test-users list yet — ask your supervisor.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browser remembers you next time.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FF3D8B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profile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your display name, avatar colour and photo.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links — LinkedIn · ORCID · Google Scholar — show beside your name.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Alternate emails are an informational list; login stays your Google account.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can’t change your role or supervisor — ask a supervisor or the admin.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see your 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always see only your own data — never another student’s. A few people may be attached to your record.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on your record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supervisor — full access: creates tasks &amp; events, edits your profile, chats.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 (additional) — a co-supervisor with the same access.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advisor — a senior colleague who follows you read-only: sees everything, changes nothing.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roles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advisor — a collaborator from outside the institution (read-only).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Committee member — on your assessment committee (read-only).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team advisor’s only action is sending private suggestions to your supervisors — you never see them.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dashboard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snapshot of where you are right now — the first thing you see when you sign 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2567864" cy="1234440"/>
          </a:xfrm>
          <a:prstGeom prst="roundRect">
            <a:avLst>
              <a:gd name="adj" fmla="val 7407"/>
            </a:avLst>
          </a:prstGeom>
          <a:solidFill>
            <a:srgbClr val="FF7A45">
              <a:alpha val="10000"/>
            </a:srgbClr>
          </a:solidFill>
          <a:ln w="12700">
            <a:solidFill>
              <a:srgbClr val="FF7A45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020824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7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tasks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808" y="2478024"/>
            <a:ext cx="2165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yet done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90824" y="1874520"/>
            <a:ext cx="2567864" cy="1234440"/>
          </a:xfrm>
          <a:prstGeom prst="roundRect">
            <a:avLst>
              <a:gd name="adj" fmla="val 7407"/>
            </a:avLst>
          </a:prstGeom>
          <a:solidFill>
            <a:srgbClr val="E2445C">
              <a:alpha val="10000"/>
            </a:srgbClr>
          </a:solidFill>
          <a:ln w="12700">
            <a:solidFill>
              <a:srgbClr val="E2445C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1992" y="2020824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44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Overdue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91992" y="2478024"/>
            <a:ext cx="2165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their due date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33008" y="1874520"/>
            <a:ext cx="2567864" cy="1234440"/>
          </a:xfrm>
          <a:prstGeom prst="roundRect">
            <a:avLst>
              <a:gd name="adj" fmla="val 7407"/>
            </a:avLst>
          </a:prstGeom>
          <a:solidFill>
            <a:srgbClr val="00D1C1">
              <a:alpha val="10000"/>
            </a:srgbClr>
          </a:solidFill>
          <a:ln w="12700">
            <a:solidFill>
              <a:srgbClr val="00D1C1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4176" y="2020824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1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Upcoming events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34176" y="2478024"/>
            <a:ext cx="2165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2 weeks (max 20)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75191" y="1874520"/>
            <a:ext cx="2567864" cy="1234440"/>
          </a:xfrm>
          <a:prstGeom prst="roundRect">
            <a:avLst>
              <a:gd name="adj" fmla="val 7407"/>
            </a:avLst>
          </a:prstGeom>
          <a:solidFill>
            <a:srgbClr val="6F4CFF">
              <a:alpha val="10000"/>
            </a:srgbClr>
          </a:solidFill>
          <a:ln w="12700">
            <a:solidFill>
              <a:srgbClr val="6F4C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76359" y="2020824"/>
            <a:ext cx="2165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activity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76359" y="2478024"/>
            <a:ext cx="21655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latest changes on your work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3493008"/>
            <a:ext cx="155448" cy="1554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23" name="Text 21"/>
          <p:cNvSpPr/>
          <p:nvPr/>
        </p:nvSpPr>
        <p:spPr>
          <a:xfrm>
            <a:off x="832104" y="340156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What’s on it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66928" y="3886200"/>
            <a:ext cx="5257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any card to drill straight into that list.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Sevilla public holidays appear as rose chips so you can plan around them.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weekly check-in card shows up when the week ticks over.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64224" y="3493008"/>
            <a:ext cx="155448" cy="155448"/>
          </a:xfrm>
          <a:prstGeom prst="ellipse">
            <a:avLst/>
          </a:prstGeom>
          <a:solidFill>
            <a:srgbClr val="FF3D8B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340156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Everywhere else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364224" y="3886200"/>
            <a:ext cx="5257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Sidebar badges mirror these counts from every module.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Pink dot on Chat, orange on Tasks, teal on Calendar.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🔔 bell collects everything your supervisors changed.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7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 &amp; the anatomy of a task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tasks, three layouts — Board, List and Gantt — each task rich with detail.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views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 — Kanban Backlog → Done; drag cards to change status.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— the full Group → Task → Sub-task table; multi-select to group.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Gantt — dependency-ordered timeline; ◆ marks each sub-task deadline.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Inside a task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L/M/H/U, category and a due date (which auto-adds a calendar deadline).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Sub-tasks with their own deadlines, a Drive folder and a Links list.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Threaded comments — reply, edit, delete; a 📅 badge counts linked events.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Depends on: pick parent tasks; the task auto-Blocks until every parent is Done.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7A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Getting things done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Done column stays tidy, and finishing a task asks your supervisor to confirm.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Done column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Shows only recently completed work — 7 / 14 / 30 days or All, newest first.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Older completions fold into a “▸ N older completed” rollup — nothing is deleted.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small chart tops the column: a bar per week plus “N this week · N this month”.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FF7A45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Completing &amp; grouping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can’t set Done yourself — drag to Done (or “Mark as completed”) to request it.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✓ completion-requested badge appears and your supervisors are notified.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tasks in List view; grouped rows carry a coloured left bar.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Deleted a task by mistake? An Undo toast brings it right back.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1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Views, events &amp; availability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Meetings, task deadlines and who’s in — across Year, Month, Week and Day.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see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events as solid chips; [Task]_ / [Sub-task]_ deadlines as all-day chips — both sync to Google.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Week/Day cover all 24h and auto-scroll to the current hour; all-day items sit in a strip on top.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🎉 Sevilla public holidays are marked in every view.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“I’m not at IMSE”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⊘ My availability marks time away; 🏠 Remote work shows green (still working, off-site).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All-day or a time range, with an optional public reason and a private memo.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 your own periods inline with the 🗑 on your row; supervisors get a 🔔.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D1C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Meetings &amp; who’s around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1:1s, invites and a team-wide view of who’s available.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Meetings &amp; invites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1:1 meeting opens an agenda, notes and action items (which become your tasks).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Invited to a meeting? Reply Going / Maybe / Can’t on the guest list.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event has a threaded comment section for pre-meeting notes.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00D1C1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Availability at a glance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Grey ⊘ blocks show when a supervisor is away — you see the dates, not the reason.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👥 Team availability lists everyone’s away / remote periods for the next 7 or 30 days.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Calendar badge counts new away periods and clears when you open Calendar.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CA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channels with your supervisors — plus an automatic Team channel.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00CA72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Messaging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and Enter to send; reply with a quoted snippet; edit or delete your own.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Drag-and-drop files or paste a screenshot (⌘V); attachments max 25 MB, auto-purged after 7 days.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ticks: ✓ sent · ✓✓ delivered · blue ✓✓ seen.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00CA72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Channels &amp; extras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“Team” channel; start more with + (with your supervisors only).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Polls: a question, 2–10 options, single or multi-vote, an optional close date.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Unread? The tab title and favicon show a count, with a per-device sound.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DISCUSSIONS   ·   NEW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topic threads your supervisors open to the whole team — unlike chat, nothing expires.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you’ll see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Topics a supervisor marks “Whole team” appear here; “Supervisors only” ones stay hidden.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can’t start a topic, but you can fully join the discussion.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topic keeps its links and documents permanently; a violet dot flags what’s new.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Document-style comments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comment like a document: type a line, then drop / paste / attach an image below it.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Reorder or remove each block; post an image-only comment if you like.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Attachments are permanent, up to 25 MB; reply to others and edit or delete your own.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2196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 ·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Files, thesis &amp; publications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shared Drive folder, and the record of your thesis and papers.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 (Drive)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shared Google Drive folder — open any file or folder in a new tab.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 a file to pin it to the top.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with you, your supervisors and any team advisor (not external advisors / committee).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FF3D8B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Thesis &amp; publications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Chapters: Planned → Drafting → In review → Revising → Done; reorder with ▲/▼.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Publications: type, status (in prep → published) and venue.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 a Drive file to any chapter or paper; changes save automatically.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6F4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Reading list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Papers to read, and ones you propose for your supervisor’s approval.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reading list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Supervisors add papers (auto-approved) with title, authors, link and status.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your progress: To read → Reading → Read.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count bubble flags new readings or decisions; the page refreshes itself.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 a paper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title, authors and link, plus a “Why is this relevant?” note.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shows as Pending approval until a supervisor approves or rejects it.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can leave a short comment or reason, shown under the item.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CHECK-IN ·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check-in &amp; annual review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quick weekly reflection, and a printable summary of your year.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check-in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two-minute reflection: what you did, blockers, and the plan for next week.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private 1–5 wellbeing dial — only your supervisors see the number.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entry per week; edit it any time that week.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review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printable summary: details header, thesis, publications, tasks, meetings, check-ins.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Wellbeing scores and private supervisor notes are never included.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 / Save as PDF hides the sidebar for a clean document.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3D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IN THE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 &amp; feedback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280160" y="1298448"/>
            <a:ext cx="9631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new activity shows up, and how to reach the admins.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6510528"/>
            <a:ext cx="91440" cy="91440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6510528"/>
            <a:ext cx="91440" cy="91440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7" name="Shape 5"/>
          <p:cNvSpPr/>
          <p:nvPr/>
        </p:nvSpPr>
        <p:spPr>
          <a:xfrm>
            <a:off x="768096" y="6510528"/>
            <a:ext cx="91440" cy="91440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38528"/>
            <a:ext cx="155448" cy="155448"/>
          </a:xfrm>
          <a:prstGeom prst="ellipse">
            <a:avLst/>
          </a:prstGeom>
          <a:solidFill>
            <a:srgbClr val="FF3D8B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🔔 bell with a red count for anything new you haven’t seen; “Mark all read” clears it.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Sidebar badges: pink on Chat, orange on Tasks, teal on Calendar.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Cards and events show a coloured banner or ring until you open them.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64224" y="1938528"/>
            <a:ext cx="155448" cy="1554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84708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A152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to the admin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364224" y="2331720"/>
            <a:ext cx="525780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a Bug, Suggestion or Other — with an optional screenshot.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each one: Open → Planned → In progress → Done (or Declined).</a:t>
            </a:r>
            <a:endParaRPr lang="en-US" sz="13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C28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Replies are a back-and-forth thread; a badge flags new activity.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10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A79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is built in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54480" y="1783080"/>
            <a:ext cx="9082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the Help section in the sidebar any time — it opens this student manual, written for your role, right inside the app.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3209544"/>
            <a:ext cx="155448" cy="155448"/>
          </a:xfrm>
          <a:prstGeom prst="ellipse">
            <a:avLst/>
          </a:prstGeom>
          <a:solidFill>
            <a:srgbClr val="6F4CFF"/>
          </a:solidFill>
          <a:ln/>
        </p:spPr>
      </p:sp>
      <p:sp>
        <p:nvSpPr>
          <p:cNvPr id="7" name="Text 5"/>
          <p:cNvSpPr/>
          <p:nvPr/>
        </p:nvSpPr>
        <p:spPr>
          <a:xfrm>
            <a:off x="1389888" y="311810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you’re stuck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70432" y="3593592"/>
            <a:ext cx="4416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in the sidebar opens your student manual.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“Access blocked” → ask your supervisor to add your email.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22415" y="2880360"/>
            <a:ext cx="5074920" cy="1874520"/>
          </a:xfrm>
          <a:prstGeom prst="roundRect">
            <a:avLst>
              <a:gd name="adj" fmla="val 487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42455" y="3209544"/>
            <a:ext cx="155448" cy="155448"/>
          </a:xfrm>
          <a:prstGeom prst="ellipse">
            <a:avLst/>
          </a:prstGeom>
          <a:solidFill>
            <a:srgbClr val="FF3D8B"/>
          </a:solidFill>
          <a:ln/>
        </p:spPr>
      </p:sp>
      <p:sp>
        <p:nvSpPr>
          <p:cNvPr id="11" name="Text 9"/>
          <p:cNvSpPr/>
          <p:nvPr/>
        </p:nvSpPr>
        <p:spPr>
          <a:xfrm>
            <a:off x="7089343" y="311810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Still stuck?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869887" y="3593592"/>
            <a:ext cx="4416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 or Drive missing → sign out and back in.</a:t>
            </a:r>
            <a:endParaRPr lang="en-US" sz="1250" dirty="0"/>
          </a:p>
          <a:p>
            <a:pPr algn="l" marL="190500" indent="-190500">
              <a:lnSpc>
                <a:spcPct val="103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D9D2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Anything else → send it via the Feedback module.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0749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 to PhDapp.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766664" y="5669280"/>
            <a:ext cx="146304" cy="146304"/>
          </a:xfrm>
          <a:prstGeom prst="rect">
            <a:avLst/>
          </a:prstGeom>
          <a:solidFill>
            <a:srgbClr val="6F4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022696" y="5669280"/>
            <a:ext cx="146304" cy="146304"/>
          </a:xfrm>
          <a:prstGeom prst="rect">
            <a:avLst/>
          </a:prstGeom>
          <a:solidFill>
            <a:srgbClr val="FF3D8B"/>
          </a:solidFill>
          <a:ln/>
        </p:spPr>
      </p:sp>
      <p:sp>
        <p:nvSpPr>
          <p:cNvPr id="16" name="Shape 14"/>
          <p:cNvSpPr/>
          <p:nvPr/>
        </p:nvSpPr>
        <p:spPr>
          <a:xfrm>
            <a:off x="6278728" y="5669280"/>
            <a:ext cx="146304" cy="146304"/>
          </a:xfrm>
          <a:prstGeom prst="rect">
            <a:avLst/>
          </a:prstGeom>
          <a:solidFill>
            <a:srgbClr val="FF7A4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64465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9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PhDapp · for students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88575" y="644652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B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PhDapp — Student Overview</dc:title>
  <dc:subject>PptxGenJS Presentation</dc:subject>
  <dc:creator>PhDapp</dc:creator>
  <cp:lastModifiedBy>PhDapp</cp:lastModifiedBy>
  <cp:revision>1</cp:revision>
  <dcterms:created xsi:type="dcterms:W3CDTF">2026-09-02T05:29:39Z</dcterms:created>
  <dcterms:modified xsi:type="dcterms:W3CDTF">2026-09-02T05:29:39Z</dcterms:modified>
</cp:coreProperties>
</file>