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310896" cy="310896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3" name="Shape 1"/>
          <p:cNvSpPr/>
          <p:nvPr/>
        </p:nvSpPr>
        <p:spPr>
          <a:xfrm>
            <a:off x="1261872" y="1371600"/>
            <a:ext cx="310896" cy="310896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4" name="Shape 2"/>
          <p:cNvSpPr/>
          <p:nvPr/>
        </p:nvSpPr>
        <p:spPr>
          <a:xfrm>
            <a:off x="1700784" y="1371600"/>
            <a:ext cx="310896" cy="3108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the work.</a:t>
            </a:r>
            <a:endParaRPr lang="en-US" sz="4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workspace.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95528" y="43434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read-only seat alongside your students — with your own Drive folder and calendar, shared with the people you work with.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TOUR · FOR PROJECT RESEARCHERS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Project Researcher 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read-only seat with a shared workspace — you follow your students’ work and coordinate with their supervisors.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55768" cy="3429000"/>
          </a:xfrm>
          <a:prstGeom prst="roundRect">
            <a:avLst>
              <a:gd name="adj" fmla="val 2400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219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176272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shared, read-only seat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51176"/>
            <a:ext cx="4943704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 follow everything your assigned students are doing and coordinate with their supervisors.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also get your own Drive folder and calendar that you and the student (and their supervisors) can see.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965960"/>
            <a:ext cx="5455768" cy="3429000"/>
          </a:xfrm>
          <a:prstGeom prst="roundRect">
            <a:avLst>
              <a:gd name="adj" fmla="val 2400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4760" y="2221992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1" name="Text 9"/>
          <p:cNvSpPr/>
          <p:nvPr/>
        </p:nvSpPr>
        <p:spPr>
          <a:xfrm>
            <a:off x="6863944" y="2176272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are not a supervisor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4760" y="2551176"/>
            <a:ext cx="4943704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can’t change a student’s tasks, events or profile.</a:t>
            </a:r>
            <a:endParaRPr lang="en-US" sz="1250" dirty="0"/>
          </a:p>
          <a:p>
            <a:pPr algn="l" marL="177800" indent="-177800">
              <a:lnSpc>
                <a:spcPct val="104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Unlike a team advisor, you never see a student’s private supervisor notes or wellbeing scores.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of it as following along and weighing in — not running the supervision.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SIGNING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Signing 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Google account you were invited with — Drive and Calendar included.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564026" cy="2468880"/>
          </a:xfrm>
          <a:prstGeom prst="roundRect">
            <a:avLst>
              <a:gd name="adj" fmla="val 3333"/>
            </a:avLst>
          </a:prstGeom>
          <a:solidFill>
            <a:srgbClr val="6F4CFF">
              <a:alpha val="8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384048" cy="3840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015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link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18688"/>
            <a:ext cx="301538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the admin’s link, then Sign in with Google and pick the Gmail address you were invited with.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3834" y="2011680"/>
            <a:ext cx="3564026" cy="2468880"/>
          </a:xfrm>
          <a:prstGeom prst="roundRect">
            <a:avLst>
              <a:gd name="adj" fmla="val 3333"/>
            </a:avLst>
          </a:prstGeom>
          <a:solidFill>
            <a:srgbClr val="6F4CFF">
              <a:alpha val="8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8154" y="2286000"/>
            <a:ext cx="384048" cy="3840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88154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8154" y="2788920"/>
            <a:ext cx="3015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“Access blocked”?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8154" y="3218688"/>
            <a:ext cx="301538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address isn’t on the test-users list yet — tell the admin so they can add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70469" y="2011680"/>
            <a:ext cx="3564026" cy="2468880"/>
          </a:xfrm>
          <a:prstGeom prst="roundRect">
            <a:avLst>
              <a:gd name="adj" fmla="val 3333"/>
            </a:avLst>
          </a:prstGeom>
          <a:solidFill>
            <a:srgbClr val="6F4CFF">
              <a:alpha val="8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4789" y="2286000"/>
            <a:ext cx="384048" cy="3840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44789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44789" y="2788920"/>
            <a:ext cx="301538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access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44789" y="3218688"/>
            <a:ext cx="301538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the Google consent screen (Drive + Calendar) so your shared folder and calendar work.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browser remembers you next time — no need to sign in again.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CAN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can — and can’t — 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student you’re assigned 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55768" cy="3611880"/>
          </a:xfrm>
          <a:prstGeom prst="roundRect">
            <a:avLst>
              <a:gd name="adj" fmla="val 2025"/>
            </a:avLst>
          </a:prstGeom>
          <a:solidFill>
            <a:srgbClr val="00CA72">
              <a:alpha val="8000"/>
            </a:srgbClr>
          </a:solidFill>
          <a:ln w="12700">
            <a:solidFill>
              <a:srgbClr val="00CA7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21408"/>
            <a:ext cx="201168" cy="201168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048256"/>
            <a:ext cx="454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542032"/>
            <a:ext cx="48522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their tasks, calendar, reading, thesis &amp; publications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 their tasks and events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their shared Drive folder (view-only)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their supervision calendar (view-only)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in the student’s channels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Discussion with the whole team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828800"/>
            <a:ext cx="5455768" cy="3611880"/>
          </a:xfrm>
          <a:prstGeom prst="roundRect">
            <a:avLst>
              <a:gd name="adj" fmla="val 2025"/>
            </a:avLst>
          </a:prstGeom>
          <a:solidFill>
            <a:srgbClr val="E2445C">
              <a:alpha val="8000"/>
            </a:srgbClr>
          </a:solidFill>
          <a:ln w="12700">
            <a:solidFill>
              <a:srgbClr val="E2445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3048" y="2121408"/>
            <a:ext cx="201168" cy="201168"/>
          </a:xfrm>
          <a:prstGeom prst="ellipse">
            <a:avLst/>
          </a:prstGeom>
          <a:solidFill>
            <a:srgbClr val="E2445C"/>
          </a:solidFill>
          <a:ln/>
        </p:spPr>
      </p:sp>
      <p:sp>
        <p:nvSpPr>
          <p:cNvPr id="11" name="Text 9"/>
          <p:cNvSpPr/>
          <p:nvPr/>
        </p:nvSpPr>
        <p:spPr>
          <a:xfrm>
            <a:off x="6882232" y="2048256"/>
            <a:ext cx="4541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cannot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9624" y="2542032"/>
            <a:ext cx="485226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Create, edit or delete their tasks or events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their profile or manage their team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files in the student’s folder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private supervisor notes or wellbeing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a task as done</a:t>
            </a:r>
            <a:endParaRPr lang="en-US" sz="1200" dirty="0"/>
          </a:p>
          <a:p>
            <a:pPr algn="l" marL="177800" indent="-177800">
              <a:lnSpc>
                <a:spcPct val="103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Supervisors-only Discussion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only ever see the students you’re assigned to — never anyone else’s.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STUDENTS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students you work with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appear on the Team page under each student as their Project Researcher.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55768" cy="3291840"/>
          </a:xfrm>
          <a:prstGeom prst="roundRect">
            <a:avLst>
              <a:gd name="adj" fmla="val 2500"/>
            </a:avLst>
          </a:prstGeom>
          <a:solidFill>
            <a:srgbClr val="00D1C1">
              <a:alpha val="9000"/>
            </a:srgbClr>
          </a:solidFill>
          <a:ln w="12700">
            <a:solidFill>
              <a:srgbClr val="00D1C1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21992"/>
            <a:ext cx="182880" cy="18288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176272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appear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51176"/>
            <a:ext cx="4943704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Team page you’re listed under each student you’re assigned to, labelled Project Researcher. Those students are the ones whose work you follow and whose supervisors you coordinate with.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965960"/>
            <a:ext cx="5455768" cy="3291840"/>
          </a:xfrm>
          <a:prstGeom prst="roundRect">
            <a:avLst>
              <a:gd name="adj" fmla="val 2500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4760" y="22219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863944" y="2176272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 per student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4760" y="2551176"/>
            <a:ext cx="4943704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is per student, so you can work with several at once. To be added to — or removed from — a student, ask that student’s supervisor or the admin.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only see the students you’re assigned to — never anyone else’s.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WORKSPACE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workspace — folder &amp; calendar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Drive folder and calendar, set up for you by a supervisor or the admin.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5455768" cy="1783080"/>
          </a:xfrm>
          <a:prstGeom prst="roundRect">
            <a:avLst>
              <a:gd name="adj" fmla="val 4615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103120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057400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folder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432304"/>
            <a:ext cx="494370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working folder for the project. Shared view-only with the students you work with and each of their supervisors and team advisors. You open theirs view-only too — neither edits the other’s.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1847088"/>
            <a:ext cx="5455768" cy="1783080"/>
          </a:xfrm>
          <a:prstGeom prst="roundRect">
            <a:avLst>
              <a:gd name="adj" fmla="val 4615"/>
            </a:avLst>
          </a:prstGeom>
          <a:solidFill>
            <a:srgbClr val="FF7A45">
              <a:alpha val="9000"/>
            </a:srgbClr>
          </a:solidFill>
          <a:ln w="12700">
            <a:solidFill>
              <a:srgbClr val="FF7A45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4760" y="2103120"/>
            <a:ext cx="182880" cy="1828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6863944" y="2057400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4760" y="2432304"/>
            <a:ext cx="494370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calendar, shared view-only with the same people. You also see each assigned student’s supervision calendar and the General calendar.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11277295" cy="603504"/>
          </a:xfrm>
          <a:prstGeom prst="roundRect">
            <a:avLst>
              <a:gd name="adj" fmla="val 12121"/>
            </a:avLst>
          </a:prstGeom>
          <a:solidFill>
            <a:srgbClr val="00CA72">
              <a:alpha val="10000"/>
            </a:srgbClr>
          </a:solidFill>
          <a:ln w="12700">
            <a:solidFill>
              <a:srgbClr val="00CA72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4027932"/>
            <a:ext cx="137160" cy="137160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794760"/>
            <a:ext cx="10618927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view-only with  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students you work with + each of their supervisors and team advisors.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507992"/>
            <a:ext cx="11277295" cy="603504"/>
          </a:xfrm>
          <a:prstGeom prst="roundRect">
            <a:avLst>
              <a:gd name="adj" fmla="val 12121"/>
            </a:avLst>
          </a:prstGeom>
          <a:solidFill>
            <a:srgbClr val="E2445C">
              <a:alpha val="10000"/>
            </a:srgbClr>
          </a:solidFill>
          <a:ln w="12700">
            <a:solidFill>
              <a:srgbClr val="E2445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4741164"/>
            <a:ext cx="137160" cy="137160"/>
          </a:xfrm>
          <a:prstGeom prst="ellipse">
            <a:avLst/>
          </a:prstGeom>
          <a:solidFill>
            <a:srgbClr val="E2445C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507992"/>
            <a:ext cx="10618927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shared with  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advisors and committee members.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links yet? A supervisor/admin clicks Create folder / Create calendar — and Sync sharing when you join a new student.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the board for your students across Board, List and Gantt views.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55768" cy="3291840"/>
          </a:xfrm>
          <a:prstGeom prst="roundRect">
            <a:avLst>
              <a:gd name="adj" fmla="val 2500"/>
            </a:avLst>
          </a:prstGeom>
          <a:solidFill>
            <a:srgbClr val="00D1C1">
              <a:alpha val="9000"/>
            </a:srgbClr>
          </a:solidFill>
          <a:ln w="12700">
            <a:solidFill>
              <a:srgbClr val="00D1C1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21992"/>
            <a:ext cx="182880" cy="18288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176272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everything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51176"/>
            <a:ext cx="4943704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Tasks to follow every student’s board in Board, List or Gantt view — dependencies, groups and all. You see the full picture as it evolves.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965960"/>
            <a:ext cx="5455768" cy="3291840"/>
          </a:xfrm>
          <a:prstGeom prst="roundRect">
            <a:avLst>
              <a:gd name="adj" fmla="val 2500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4760" y="222199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863944" y="2176272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to weigh 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4760" y="2551176"/>
            <a:ext cx="4943704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comment on any task to discuss it with the student and their supervisors. Task comments are a great way to weigh in on the work.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can’t create, edit, move or complete tasks — that’s for the student and their supervisors.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the schedules that matter, all in one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564026" cy="2743200"/>
          </a:xfrm>
          <a:prstGeom prst="roundRect">
            <a:avLst>
              <a:gd name="adj" fmla="val 3000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67712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221992"/>
            <a:ext cx="27776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students’ events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96896"/>
            <a:ext cx="305196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meetings, deadlines and availability for each assigned student — view-only.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3834" y="2011680"/>
            <a:ext cx="3564026" cy="2743200"/>
          </a:xfrm>
          <a:prstGeom prst="roundRect">
            <a:avLst>
              <a:gd name="adj" fmla="val 3000"/>
            </a:avLst>
          </a:prstGeom>
          <a:solidFill>
            <a:srgbClr val="FF7A45">
              <a:alpha val="9000"/>
            </a:srgbClr>
          </a:solidFill>
          <a:ln w="12700">
            <a:solidFill>
              <a:srgbClr val="FF7A45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9866" y="2267712"/>
            <a:ext cx="182880" cy="1828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4899050" y="2221992"/>
            <a:ext cx="27776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General calendar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9866" y="2596896"/>
            <a:ext cx="305196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Shared, team-wide events everyone can see.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0469" y="2011680"/>
            <a:ext cx="3564026" cy="2743200"/>
          </a:xfrm>
          <a:prstGeom prst="roundRect">
            <a:avLst>
              <a:gd name="adj" fmla="val 3000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6501" y="22677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755685" y="2221992"/>
            <a:ext cx="27776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calendar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26501" y="2596896"/>
            <a:ext cx="305196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workspace calendar — use it (in Google Calendar) for your project scheduling.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view the students’ calendars read-only; only your own calendar is yours to edit.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C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Drive folder shared with each student you work with.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77295" cy="2743200"/>
          </a:xfrm>
          <a:prstGeom prst="roundRect">
            <a:avLst>
              <a:gd name="adj" fmla="val 2667"/>
            </a:avLst>
          </a:prstGeom>
          <a:solidFill>
            <a:srgbClr val="00CA72">
              <a:alpha val="8000"/>
            </a:srgbClr>
          </a:solidFill>
          <a:ln w="12700">
            <a:solidFill>
              <a:srgbClr val="00CA7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971800"/>
            <a:ext cx="1097280" cy="1097280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971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651760"/>
            <a:ext cx="8899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each student’s shared folder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68880" y="3200400"/>
            <a:ext cx="8442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shows the Drive folder shared with every student you work with — click through to open it in Drive, view-only.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workspace folder is linked separately from your Team card.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View-only for you — the student and their supervisors manage what’s inside.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&amp;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Reading, thesis &amp; publications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each student’s progress — read-only.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55768" cy="3291840"/>
          </a:xfrm>
          <a:prstGeom prst="roundRect">
            <a:avLst>
              <a:gd name="adj" fmla="val 2500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21992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176272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list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51176"/>
            <a:ext cx="4943704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each student’s reading list and follow how it’s progressing. You can’t approve reading items — that stays with the supervisors and the student.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965960"/>
            <a:ext cx="5455768" cy="3291840"/>
          </a:xfrm>
          <a:prstGeom prst="roundRect">
            <a:avLst>
              <a:gd name="adj" fmla="val 2500"/>
            </a:avLst>
          </a:prstGeom>
          <a:solidFill>
            <a:srgbClr val="FF3D8B">
              <a:alpha val="9000"/>
            </a:srgbClr>
          </a:solidFill>
          <a:ln w="12700">
            <a:solidFill>
              <a:srgbClr val="FF3D8B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4760" y="2221992"/>
            <a:ext cx="182880" cy="182880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1" name="Text 9"/>
          <p:cNvSpPr/>
          <p:nvPr/>
        </p:nvSpPr>
        <p:spPr>
          <a:xfrm>
            <a:off x="6863944" y="2176272"/>
            <a:ext cx="466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&amp; publications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4760" y="2551176"/>
            <a:ext cx="4943704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thesis chapters and publications and follow the write-up. You can’t edit chapters — that’s the student’s and supervisors’ job.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here is read-only — a clear window on the work, nothing to approve or change.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IN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Chat, Discussions &amp; Notifications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05840" y="1280160"/>
            <a:ext cx="101800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 with the team and keep track of what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564026" cy="2743200"/>
          </a:xfrm>
          <a:prstGeom prst="roundRect">
            <a:avLst>
              <a:gd name="adj" fmla="val 3000"/>
            </a:avLst>
          </a:prstGeom>
          <a:solidFill>
            <a:srgbClr val="00D1C1">
              <a:alpha val="9000"/>
            </a:srgbClr>
          </a:solidFill>
          <a:ln w="12700">
            <a:solidFill>
              <a:srgbClr val="00D1C1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267712"/>
            <a:ext cx="182880" cy="18288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221992"/>
            <a:ext cx="27776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596896"/>
            <a:ext cx="305196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part in the channels of the students you work with — a direct line to the student and their supervisors. (Not auto-added to older channels; a supervisor can add you.)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3834" y="2011680"/>
            <a:ext cx="3564026" cy="2743200"/>
          </a:xfrm>
          <a:prstGeom prst="roundRect">
            <a:avLst>
              <a:gd name="adj" fmla="val 3000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9866" y="2267712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1" name="Text 9"/>
          <p:cNvSpPr/>
          <p:nvPr/>
        </p:nvSpPr>
        <p:spPr>
          <a:xfrm>
            <a:off x="4899050" y="2221992"/>
            <a:ext cx="27776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69866" y="2596896"/>
            <a:ext cx="305196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whole-team topic and join any you can see. Supervisors-only topics stay reserved for the supervising team.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70469" y="2011680"/>
            <a:ext cx="3564026" cy="2743200"/>
          </a:xfrm>
          <a:prstGeom prst="roundRect">
            <a:avLst>
              <a:gd name="adj" fmla="val 3000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6501" y="22677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755685" y="2221992"/>
            <a:ext cx="27776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26501" y="2596896"/>
            <a:ext cx="3051962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🔔 bell and coloured sidebar dots flag new comments, discussions and calendar updates. Open a module to clear its dot.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 and whole-team Discussions are your voice on the team.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is built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1783080"/>
            <a:ext cx="92656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Help (❓) in the sidebar any time — it shows this Project Researcher manual right inside the app, with a contents list and a slide overview you can download.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5474056" cy="1783080"/>
          </a:xfrm>
          <a:prstGeom prst="roundRect">
            <a:avLst>
              <a:gd name="adj" fmla="val 410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3118104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3026664"/>
            <a:ext cx="4651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your way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3502152"/>
            <a:ext cx="483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in the sidebar opens this manual.</a:t>
            </a:r>
            <a:endParaRPr lang="en-US" sz="1250" dirty="0"/>
          </a:p>
          <a:p>
            <a:pPr algn="l"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folder &amp; calendar links live on your Team card.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0440" y="2788920"/>
            <a:ext cx="5474056" cy="1783080"/>
          </a:xfrm>
          <a:prstGeom prst="roundRect">
            <a:avLst>
              <a:gd name="adj" fmla="val 410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1336" y="3118104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1" name="Text 9"/>
          <p:cNvSpPr/>
          <p:nvPr/>
        </p:nvSpPr>
        <p:spPr>
          <a:xfrm>
            <a:off x="6827368" y="3026664"/>
            <a:ext cx="4651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Something missing?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9624" y="3502152"/>
            <a:ext cx="48339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folder/calendar link yet? Ask a supervisor or admin to create it.</a:t>
            </a:r>
            <a:endParaRPr lang="en-US" sz="1250" dirty="0"/>
          </a:p>
          <a:p>
            <a:pPr algn="l"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Newly assigned to a student? They click Sync sharing.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PhDapp.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39816" y="5486400"/>
            <a:ext cx="146304" cy="146304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5486400"/>
            <a:ext cx="146304" cy="146304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1880" y="5486400"/>
            <a:ext cx="146304" cy="146304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072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Project Researchers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22815" y="64190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2026-09-02T13:22:18Z</dcterms:created>
  <dcterms:modified xsi:type="dcterms:W3CDTF">2026-09-02T13:22:18Z</dcterms:modified>
</cp:coreProperties>
</file>